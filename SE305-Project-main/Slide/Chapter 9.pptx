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22"/>
  </p:notesMasterIdLst>
  <p:sldIdLst>
    <p:sldId id="256" r:id="rId2"/>
    <p:sldId id="257" r:id="rId3"/>
    <p:sldId id="259" r:id="rId4"/>
    <p:sldId id="285" r:id="rId5"/>
    <p:sldId id="286" r:id="rId6"/>
    <p:sldId id="271" r:id="rId7"/>
    <p:sldId id="272" r:id="rId8"/>
    <p:sldId id="281" r:id="rId9"/>
    <p:sldId id="283" r:id="rId10"/>
    <p:sldId id="282" r:id="rId11"/>
    <p:sldId id="273" r:id="rId12"/>
    <p:sldId id="274" r:id="rId13"/>
    <p:sldId id="284" r:id="rId14"/>
    <p:sldId id="275" r:id="rId15"/>
    <p:sldId id="276" r:id="rId16"/>
    <p:sldId id="277" r:id="rId17"/>
    <p:sldId id="278" r:id="rId18"/>
    <p:sldId id="279" r:id="rId19"/>
    <p:sldId id="270" r:id="rId20"/>
    <p:sldId id="280"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B10CA91-2F6A-42ED-8D09-0F5D85B30E59}" v="1" dt="2025-03-26T21:34:04.06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72" d="100"/>
          <a:sy n="72" d="100"/>
        </p:scale>
        <p:origin x="420" y="5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28"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FAWZI" userId="195c5d33-7e1b-4a36-a6b8-5f32864a09e4" providerId="ADAL" clId="{6149203E-C0E0-4604-8E57-B32E0A3CB6AA}"/>
    <pc:docChg chg="modSld">
      <pc:chgData name="FAWZI" userId="195c5d33-7e1b-4a36-a6b8-5f32864a09e4" providerId="ADAL" clId="{6149203E-C0E0-4604-8E57-B32E0A3CB6AA}" dt="2023-11-19T07:37:02.080" v="1" actId="14100"/>
      <pc:docMkLst>
        <pc:docMk/>
      </pc:docMkLst>
      <pc:sldChg chg="modSp mod">
        <pc:chgData name="FAWZI" userId="195c5d33-7e1b-4a36-a6b8-5f32864a09e4" providerId="ADAL" clId="{6149203E-C0E0-4604-8E57-B32E0A3CB6AA}" dt="2023-11-19T07:37:02.080" v="1" actId="14100"/>
        <pc:sldMkLst>
          <pc:docMk/>
          <pc:sldMk cId="78454716" sldId="278"/>
        </pc:sldMkLst>
      </pc:sldChg>
    </pc:docChg>
  </pc:docChgLst>
  <pc:docChgLst>
    <pc:chgData name="FAWZI" userId="195c5d33-7e1b-4a36-a6b8-5f32864a09e4" providerId="ADAL" clId="{3917BEA2-5828-4FDA-A788-111E36AAFFB2}"/>
    <pc:docChg chg="custSel modSld">
      <pc:chgData name="FAWZI" userId="195c5d33-7e1b-4a36-a6b8-5f32864a09e4" providerId="ADAL" clId="{3917BEA2-5828-4FDA-A788-111E36AAFFB2}" dt="2023-10-19T10:39:46.466" v="144" actId="962"/>
      <pc:docMkLst>
        <pc:docMk/>
      </pc:docMkLst>
      <pc:sldChg chg="modSp mod">
        <pc:chgData name="FAWZI" userId="195c5d33-7e1b-4a36-a6b8-5f32864a09e4" providerId="ADAL" clId="{3917BEA2-5828-4FDA-A788-111E36AAFFB2}" dt="2023-10-19T10:39:46.466" v="144" actId="962"/>
        <pc:sldMkLst>
          <pc:docMk/>
          <pc:sldMk cId="3712345015" sldId="256"/>
        </pc:sldMkLst>
      </pc:sldChg>
      <pc:sldChg chg="modSp mod">
        <pc:chgData name="FAWZI" userId="195c5d33-7e1b-4a36-a6b8-5f32864a09e4" providerId="ADAL" clId="{3917BEA2-5828-4FDA-A788-111E36AAFFB2}" dt="2023-10-17T06:56:00.908" v="122" actId="33524"/>
        <pc:sldMkLst>
          <pc:docMk/>
          <pc:sldMk cId="1658571727" sldId="276"/>
        </pc:sldMkLst>
      </pc:sldChg>
      <pc:sldChg chg="modSp mod">
        <pc:chgData name="FAWZI" userId="195c5d33-7e1b-4a36-a6b8-5f32864a09e4" providerId="ADAL" clId="{3917BEA2-5828-4FDA-A788-111E36AAFFB2}" dt="2023-10-17T06:43:50.139" v="5" actId="20577"/>
        <pc:sldMkLst>
          <pc:docMk/>
          <pc:sldMk cId="1229276593" sldId="281"/>
        </pc:sldMkLst>
      </pc:sldChg>
    </pc:docChg>
  </pc:docChgLst>
  <pc:docChgLst>
    <pc:chgData name="Dr. FAWZI ABDULAZIZ MOHAMMED ALBALOOSHI" userId="195c5d33-7e1b-4a36-a6b8-5f32864a09e4" providerId="ADAL" clId="{6E4BDAE8-1CF7-4F2F-A0EF-BBA8645BF912}"/>
    <pc:docChg chg="custSel modSld">
      <pc:chgData name="Dr. FAWZI ABDULAZIZ MOHAMMED ALBALOOSHI" userId="195c5d33-7e1b-4a36-a6b8-5f32864a09e4" providerId="ADAL" clId="{6E4BDAE8-1CF7-4F2F-A0EF-BBA8645BF912}" dt="2024-03-02T08:11:23.200" v="23" actId="20577"/>
      <pc:docMkLst>
        <pc:docMk/>
      </pc:docMkLst>
      <pc:sldChg chg="modSp mod">
        <pc:chgData name="Dr. FAWZI ABDULAZIZ MOHAMMED ALBALOOSHI" userId="195c5d33-7e1b-4a36-a6b8-5f32864a09e4" providerId="ADAL" clId="{6E4BDAE8-1CF7-4F2F-A0EF-BBA8645BF912}" dt="2024-03-02T08:11:23.200" v="23" actId="20577"/>
        <pc:sldMkLst>
          <pc:docMk/>
          <pc:sldMk cId="3913719529" sldId="270"/>
        </pc:sldMkLst>
      </pc:sldChg>
    </pc:docChg>
  </pc:docChgLst>
  <pc:docChgLst>
    <pc:chgData name="Dr. FAWZI ABDULAZIZ MOHAMMED ALBALOOSHI" userId="195c5d33-7e1b-4a36-a6b8-5f32864a09e4" providerId="ADAL" clId="{17888FB6-9DEF-4D74-9F09-6FA0624D2583}"/>
    <pc:docChg chg="undo redo custSel addSld modSld">
      <pc:chgData name="Dr. FAWZI ABDULAZIZ MOHAMMED ALBALOOSHI" userId="195c5d33-7e1b-4a36-a6b8-5f32864a09e4" providerId="ADAL" clId="{17888FB6-9DEF-4D74-9F09-6FA0624D2583}" dt="2025-02-22T17:37:54.059" v="204" actId="5793"/>
      <pc:docMkLst>
        <pc:docMk/>
      </pc:docMkLst>
      <pc:sldChg chg="modSp mod">
        <pc:chgData name="Dr. FAWZI ABDULAZIZ MOHAMMED ALBALOOSHI" userId="195c5d33-7e1b-4a36-a6b8-5f32864a09e4" providerId="ADAL" clId="{17888FB6-9DEF-4D74-9F09-6FA0624D2583}" dt="2025-02-22T17:37:32.818" v="197" actId="14100"/>
        <pc:sldMkLst>
          <pc:docMk/>
          <pc:sldMk cId="3443598188" sldId="271"/>
        </pc:sldMkLst>
        <pc:spChg chg="mod">
          <ac:chgData name="Dr. FAWZI ABDULAZIZ MOHAMMED ALBALOOSHI" userId="195c5d33-7e1b-4a36-a6b8-5f32864a09e4" providerId="ADAL" clId="{17888FB6-9DEF-4D74-9F09-6FA0624D2583}" dt="2025-02-22T17:37:32.818" v="197" actId="14100"/>
          <ac:spMkLst>
            <pc:docMk/>
            <pc:sldMk cId="3443598188" sldId="271"/>
            <ac:spMk id="3" creationId="{C0A0DA03-8DCB-6C12-0FDB-B85BAA7CAAC3}"/>
          </ac:spMkLst>
        </pc:spChg>
      </pc:sldChg>
      <pc:sldChg chg="modSp mod">
        <pc:chgData name="Dr. FAWZI ABDULAZIZ MOHAMMED ALBALOOSHI" userId="195c5d33-7e1b-4a36-a6b8-5f32864a09e4" providerId="ADAL" clId="{17888FB6-9DEF-4D74-9F09-6FA0624D2583}" dt="2025-02-22T17:37:54.059" v="204" actId="5793"/>
        <pc:sldMkLst>
          <pc:docMk/>
          <pc:sldMk cId="1287083998" sldId="272"/>
        </pc:sldMkLst>
        <pc:spChg chg="mod">
          <ac:chgData name="Dr. FAWZI ABDULAZIZ MOHAMMED ALBALOOSHI" userId="195c5d33-7e1b-4a36-a6b8-5f32864a09e4" providerId="ADAL" clId="{17888FB6-9DEF-4D74-9F09-6FA0624D2583}" dt="2025-02-22T17:37:54.059" v="204" actId="5793"/>
          <ac:spMkLst>
            <pc:docMk/>
            <pc:sldMk cId="1287083998" sldId="272"/>
            <ac:spMk id="3" creationId="{C0A0DA03-8DCB-6C12-0FDB-B85BAA7CAAC3}"/>
          </ac:spMkLst>
        </pc:spChg>
      </pc:sldChg>
      <pc:sldChg chg="addSp modSp add mod">
        <pc:chgData name="Dr. FAWZI ABDULAZIZ MOHAMMED ALBALOOSHI" userId="195c5d33-7e1b-4a36-a6b8-5f32864a09e4" providerId="ADAL" clId="{17888FB6-9DEF-4D74-9F09-6FA0624D2583}" dt="2025-02-22T17:35:35.580" v="193" actId="1076"/>
        <pc:sldMkLst>
          <pc:docMk/>
          <pc:sldMk cId="1370261936" sldId="285"/>
        </pc:sldMkLst>
        <pc:spChg chg="mod">
          <ac:chgData name="Dr. FAWZI ABDULAZIZ MOHAMMED ALBALOOSHI" userId="195c5d33-7e1b-4a36-a6b8-5f32864a09e4" providerId="ADAL" clId="{17888FB6-9DEF-4D74-9F09-6FA0624D2583}" dt="2025-02-22T17:14:03.510" v="3" actId="20577"/>
          <ac:spMkLst>
            <pc:docMk/>
            <pc:sldMk cId="1370261936" sldId="285"/>
            <ac:spMk id="3" creationId="{45C0442D-607E-8668-F9FF-EAFB2F14CB84}"/>
          </ac:spMkLst>
        </pc:spChg>
        <pc:spChg chg="add mod">
          <ac:chgData name="Dr. FAWZI ABDULAZIZ MOHAMMED ALBALOOSHI" userId="195c5d33-7e1b-4a36-a6b8-5f32864a09e4" providerId="ADAL" clId="{17888FB6-9DEF-4D74-9F09-6FA0624D2583}" dt="2025-02-22T17:35:35.580" v="193" actId="1076"/>
          <ac:spMkLst>
            <pc:docMk/>
            <pc:sldMk cId="1370261936" sldId="285"/>
            <ac:spMk id="4" creationId="{124B04B1-C710-2DDD-C4D7-432C1F53EBB5}"/>
          </ac:spMkLst>
        </pc:spChg>
      </pc:sldChg>
      <pc:sldChg chg="addSp delSp modSp add mod">
        <pc:chgData name="Dr. FAWZI ABDULAZIZ MOHAMMED ALBALOOSHI" userId="195c5d33-7e1b-4a36-a6b8-5f32864a09e4" providerId="ADAL" clId="{17888FB6-9DEF-4D74-9F09-6FA0624D2583}" dt="2025-02-22T17:34:26.784" v="178" actId="115"/>
        <pc:sldMkLst>
          <pc:docMk/>
          <pc:sldMk cId="3812242420" sldId="286"/>
        </pc:sldMkLst>
        <pc:spChg chg="mod">
          <ac:chgData name="Dr. FAWZI ABDULAZIZ MOHAMMED ALBALOOSHI" userId="195c5d33-7e1b-4a36-a6b8-5f32864a09e4" providerId="ADAL" clId="{17888FB6-9DEF-4D74-9F09-6FA0624D2583}" dt="2025-02-22T17:34:26.784" v="178" actId="115"/>
          <ac:spMkLst>
            <pc:docMk/>
            <pc:sldMk cId="3812242420" sldId="286"/>
            <ac:spMk id="3" creationId="{9C25A9A5-1097-71B6-BDC1-7F5F0C502608}"/>
          </ac:spMkLst>
        </pc:spChg>
      </pc:sldChg>
    </pc:docChg>
  </pc:docChgLst>
  <pc:docChgLst>
    <pc:chgData name="Dr. FAWZI ABDULAZIZ MOHAMMED ALBALOOSHI" userId="195c5d33-7e1b-4a36-a6b8-5f32864a09e4" providerId="ADAL" clId="{8079B952-7E8E-4D25-A416-557EE790BBD3}"/>
    <pc:docChg chg="undo custSel modSld">
      <pc:chgData name="Dr. FAWZI ABDULAZIZ MOHAMMED ALBALOOSHI" userId="195c5d33-7e1b-4a36-a6b8-5f32864a09e4" providerId="ADAL" clId="{8079B952-7E8E-4D25-A416-557EE790BBD3}" dt="2024-10-03T09:17:20.440" v="89" actId="1076"/>
      <pc:docMkLst>
        <pc:docMk/>
      </pc:docMkLst>
      <pc:sldChg chg="modSp mod">
        <pc:chgData name="Dr. FAWZI ABDULAZIZ MOHAMMED ALBALOOSHI" userId="195c5d33-7e1b-4a36-a6b8-5f32864a09e4" providerId="ADAL" clId="{8079B952-7E8E-4D25-A416-557EE790BBD3}" dt="2024-10-03T07:28:50.133" v="87" actId="20577"/>
        <pc:sldMkLst>
          <pc:docMk/>
          <pc:sldMk cId="1658571727" sldId="276"/>
        </pc:sldMkLst>
      </pc:sldChg>
      <pc:sldChg chg="modSp mod">
        <pc:chgData name="Dr. FAWZI ABDULAZIZ MOHAMMED ALBALOOSHI" userId="195c5d33-7e1b-4a36-a6b8-5f32864a09e4" providerId="ADAL" clId="{8079B952-7E8E-4D25-A416-557EE790BBD3}" dt="2024-10-03T09:17:20.440" v="89" actId="1076"/>
        <pc:sldMkLst>
          <pc:docMk/>
          <pc:sldMk cId="78454716" sldId="278"/>
        </pc:sldMkLst>
      </pc:sldChg>
      <pc:sldChg chg="modSp mod">
        <pc:chgData name="Dr. FAWZI ABDULAZIZ MOHAMMED ALBALOOSHI" userId="195c5d33-7e1b-4a36-a6b8-5f32864a09e4" providerId="ADAL" clId="{8079B952-7E8E-4D25-A416-557EE790BBD3}" dt="2024-09-30T17:57:55.766" v="35" actId="20577"/>
        <pc:sldMkLst>
          <pc:docMk/>
          <pc:sldMk cId="1229276593" sldId="281"/>
        </pc:sldMkLst>
      </pc:sldChg>
      <pc:sldChg chg="modSp mod">
        <pc:chgData name="Dr. FAWZI ABDULAZIZ MOHAMMED ALBALOOSHI" userId="195c5d33-7e1b-4a36-a6b8-5f32864a09e4" providerId="ADAL" clId="{8079B952-7E8E-4D25-A416-557EE790BBD3}" dt="2024-09-30T18:20:46.640" v="80" actId="20577"/>
        <pc:sldMkLst>
          <pc:docMk/>
          <pc:sldMk cId="2309523123" sldId="282"/>
        </pc:sldMkLst>
      </pc:sldChg>
      <pc:sldChg chg="modSp mod">
        <pc:chgData name="Dr. FAWZI ABDULAZIZ MOHAMMED ALBALOOSHI" userId="195c5d33-7e1b-4a36-a6b8-5f32864a09e4" providerId="ADAL" clId="{8079B952-7E8E-4D25-A416-557EE790BBD3}" dt="2024-09-30T18:09:56.764" v="77" actId="20577"/>
        <pc:sldMkLst>
          <pc:docMk/>
          <pc:sldMk cId="4021395465" sldId="283"/>
        </pc:sldMkLst>
      </pc:sldChg>
    </pc:docChg>
  </pc:docChgLst>
  <pc:docChgLst>
    <pc:chgData name="FAWZI" userId="195c5d33-7e1b-4a36-a6b8-5f32864a09e4" providerId="ADAL" clId="{696BA1E6-4E63-4644-BF8C-B530430D0D43}"/>
    <pc:docChg chg="undo custSel addSld delSld modSld">
      <pc:chgData name="FAWZI" userId="195c5d33-7e1b-4a36-a6b8-5f32864a09e4" providerId="ADAL" clId="{696BA1E6-4E63-4644-BF8C-B530430D0D43}" dt="2023-09-12T17:53:30.102" v="556" actId="20577"/>
      <pc:docMkLst>
        <pc:docMk/>
      </pc:docMkLst>
      <pc:sldChg chg="modSp mod">
        <pc:chgData name="FAWZI" userId="195c5d33-7e1b-4a36-a6b8-5f32864a09e4" providerId="ADAL" clId="{696BA1E6-4E63-4644-BF8C-B530430D0D43}" dt="2023-09-12T15:48:39.390" v="3" actId="14100"/>
        <pc:sldMkLst>
          <pc:docMk/>
          <pc:sldMk cId="3712345015" sldId="256"/>
        </pc:sldMkLst>
      </pc:sldChg>
      <pc:sldChg chg="modSp mod">
        <pc:chgData name="FAWZI" userId="195c5d33-7e1b-4a36-a6b8-5f32864a09e4" providerId="ADAL" clId="{696BA1E6-4E63-4644-BF8C-B530430D0D43}" dt="2023-09-12T15:52:42.063" v="28" actId="20577"/>
        <pc:sldMkLst>
          <pc:docMk/>
          <pc:sldMk cId="2476875158" sldId="257"/>
        </pc:sldMkLst>
      </pc:sldChg>
      <pc:sldChg chg="modSp mod">
        <pc:chgData name="FAWZI" userId="195c5d33-7e1b-4a36-a6b8-5f32864a09e4" providerId="ADAL" clId="{696BA1E6-4E63-4644-BF8C-B530430D0D43}" dt="2023-09-12T15:56:19.185" v="120" actId="14100"/>
        <pc:sldMkLst>
          <pc:docMk/>
          <pc:sldMk cId="3725047582" sldId="259"/>
        </pc:sldMkLst>
      </pc:sldChg>
      <pc:sldChg chg="del">
        <pc:chgData name="FAWZI" userId="195c5d33-7e1b-4a36-a6b8-5f32864a09e4" providerId="ADAL" clId="{696BA1E6-4E63-4644-BF8C-B530430D0D43}" dt="2023-09-12T17:36:04.584" v="460" actId="2696"/>
        <pc:sldMkLst>
          <pc:docMk/>
          <pc:sldMk cId="214645191" sldId="260"/>
        </pc:sldMkLst>
      </pc:sldChg>
      <pc:sldChg chg="del">
        <pc:chgData name="FAWZI" userId="195c5d33-7e1b-4a36-a6b8-5f32864a09e4" providerId="ADAL" clId="{696BA1E6-4E63-4644-BF8C-B530430D0D43}" dt="2023-09-12T17:36:08.038" v="461" actId="2696"/>
        <pc:sldMkLst>
          <pc:docMk/>
          <pc:sldMk cId="3072358550" sldId="267"/>
        </pc:sldMkLst>
      </pc:sldChg>
      <pc:sldChg chg="modSp mod">
        <pc:chgData name="FAWZI" userId="195c5d33-7e1b-4a36-a6b8-5f32864a09e4" providerId="ADAL" clId="{696BA1E6-4E63-4644-BF8C-B530430D0D43}" dt="2023-09-12T17:53:13.317" v="541" actId="20577"/>
        <pc:sldMkLst>
          <pc:docMk/>
          <pc:sldMk cId="3913719529" sldId="270"/>
        </pc:sldMkLst>
      </pc:sldChg>
      <pc:sldChg chg="modSp add mod">
        <pc:chgData name="FAWZI" userId="195c5d33-7e1b-4a36-a6b8-5f32864a09e4" providerId="ADAL" clId="{696BA1E6-4E63-4644-BF8C-B530430D0D43}" dt="2023-09-12T15:58:22.258" v="125" actId="20577"/>
        <pc:sldMkLst>
          <pc:docMk/>
          <pc:sldMk cId="3443598188" sldId="271"/>
        </pc:sldMkLst>
      </pc:sldChg>
      <pc:sldChg chg="modSp add mod">
        <pc:chgData name="FAWZI" userId="195c5d33-7e1b-4a36-a6b8-5f32864a09e4" providerId="ADAL" clId="{696BA1E6-4E63-4644-BF8C-B530430D0D43}" dt="2023-09-12T16:03:48.161" v="156" actId="20577"/>
        <pc:sldMkLst>
          <pc:docMk/>
          <pc:sldMk cId="1287083998" sldId="272"/>
        </pc:sldMkLst>
      </pc:sldChg>
      <pc:sldChg chg="modSp add mod">
        <pc:chgData name="FAWZI" userId="195c5d33-7e1b-4a36-a6b8-5f32864a09e4" providerId="ADAL" clId="{696BA1E6-4E63-4644-BF8C-B530430D0D43}" dt="2023-09-12T16:05:54.291" v="171" actId="113"/>
        <pc:sldMkLst>
          <pc:docMk/>
          <pc:sldMk cId="1650542494" sldId="273"/>
        </pc:sldMkLst>
      </pc:sldChg>
      <pc:sldChg chg="modSp add mod">
        <pc:chgData name="FAWZI" userId="195c5d33-7e1b-4a36-a6b8-5f32864a09e4" providerId="ADAL" clId="{696BA1E6-4E63-4644-BF8C-B530430D0D43}" dt="2023-09-12T16:09:16.334" v="181" actId="13900"/>
        <pc:sldMkLst>
          <pc:docMk/>
          <pc:sldMk cId="2066461805" sldId="274"/>
        </pc:sldMkLst>
      </pc:sldChg>
      <pc:sldChg chg="modSp add mod">
        <pc:chgData name="FAWZI" userId="195c5d33-7e1b-4a36-a6b8-5f32864a09e4" providerId="ADAL" clId="{696BA1E6-4E63-4644-BF8C-B530430D0D43}" dt="2023-09-12T16:13:31.767" v="242" actId="20577"/>
        <pc:sldMkLst>
          <pc:docMk/>
          <pc:sldMk cId="1134966465" sldId="275"/>
        </pc:sldMkLst>
      </pc:sldChg>
      <pc:sldChg chg="modSp add mod">
        <pc:chgData name="FAWZI" userId="195c5d33-7e1b-4a36-a6b8-5f32864a09e4" providerId="ADAL" clId="{696BA1E6-4E63-4644-BF8C-B530430D0D43}" dt="2023-09-12T17:38:35.228" v="469" actId="20577"/>
        <pc:sldMkLst>
          <pc:docMk/>
          <pc:sldMk cId="1658571727" sldId="276"/>
        </pc:sldMkLst>
      </pc:sldChg>
      <pc:sldChg chg="modSp add mod">
        <pc:chgData name="FAWZI" userId="195c5d33-7e1b-4a36-a6b8-5f32864a09e4" providerId="ADAL" clId="{696BA1E6-4E63-4644-BF8C-B530430D0D43}" dt="2023-09-12T17:03:57.097" v="270" actId="13900"/>
        <pc:sldMkLst>
          <pc:docMk/>
          <pc:sldMk cId="4139615530" sldId="277"/>
        </pc:sldMkLst>
      </pc:sldChg>
      <pc:sldChg chg="modSp add mod">
        <pc:chgData name="FAWZI" userId="195c5d33-7e1b-4a36-a6b8-5f32864a09e4" providerId="ADAL" clId="{696BA1E6-4E63-4644-BF8C-B530430D0D43}" dt="2023-09-12T17:06:19.466" v="300" actId="20577"/>
        <pc:sldMkLst>
          <pc:docMk/>
          <pc:sldMk cId="78454716" sldId="278"/>
        </pc:sldMkLst>
      </pc:sldChg>
      <pc:sldChg chg="modSp add mod">
        <pc:chgData name="FAWZI" userId="195c5d33-7e1b-4a36-a6b8-5f32864a09e4" providerId="ADAL" clId="{696BA1E6-4E63-4644-BF8C-B530430D0D43}" dt="2023-09-12T17:21:13.785" v="339" actId="20577"/>
        <pc:sldMkLst>
          <pc:docMk/>
          <pc:sldMk cId="1522894349" sldId="279"/>
        </pc:sldMkLst>
      </pc:sldChg>
      <pc:sldChg chg="modSp add mod">
        <pc:chgData name="FAWZI" userId="195c5d33-7e1b-4a36-a6b8-5f32864a09e4" providerId="ADAL" clId="{696BA1E6-4E63-4644-BF8C-B530430D0D43}" dt="2023-09-12T17:53:30.102" v="556" actId="20577"/>
        <pc:sldMkLst>
          <pc:docMk/>
          <pc:sldMk cId="1087139936" sldId="280"/>
        </pc:sldMkLst>
      </pc:sldChg>
    </pc:docChg>
  </pc:docChgLst>
  <pc:docChgLst>
    <pc:chgData name="Dr. FAWZI ABDULAZIZ MOHAMMED ALBALOOSHI" userId="195c5d33-7e1b-4a36-a6b8-5f32864a09e4" providerId="ADAL" clId="{EB10CA91-2F6A-42ED-8D09-0F5D85B30E59}"/>
    <pc:docChg chg="custSel modSld">
      <pc:chgData name="Dr. FAWZI ABDULAZIZ MOHAMMED ALBALOOSHI" userId="195c5d33-7e1b-4a36-a6b8-5f32864a09e4" providerId="ADAL" clId="{EB10CA91-2F6A-42ED-8D09-0F5D85B30E59}" dt="2025-03-28T13:37:24.674" v="25"/>
      <pc:docMkLst>
        <pc:docMk/>
      </pc:docMkLst>
      <pc:sldChg chg="modSp mod">
        <pc:chgData name="Dr. FAWZI ABDULAZIZ MOHAMMED ALBALOOSHI" userId="195c5d33-7e1b-4a36-a6b8-5f32864a09e4" providerId="ADAL" clId="{EB10CA91-2F6A-42ED-8D09-0F5D85B30E59}" dt="2025-03-26T20:43:27.517" v="6" actId="14100"/>
        <pc:sldMkLst>
          <pc:docMk/>
          <pc:sldMk cId="3712345015" sldId="256"/>
        </pc:sldMkLst>
        <pc:spChg chg="mod">
          <ac:chgData name="Dr. FAWZI ABDULAZIZ MOHAMMED ALBALOOSHI" userId="195c5d33-7e1b-4a36-a6b8-5f32864a09e4" providerId="ADAL" clId="{EB10CA91-2F6A-42ED-8D09-0F5D85B30E59}" dt="2025-03-26T20:43:27.517" v="6" actId="14100"/>
          <ac:spMkLst>
            <pc:docMk/>
            <pc:sldMk cId="3712345015" sldId="256"/>
            <ac:spMk id="3" creationId="{484A1015-1F15-8EB0-88DE-050A973E6A07}"/>
          </ac:spMkLst>
        </pc:spChg>
      </pc:sldChg>
      <pc:sldChg chg="modSp mod">
        <pc:chgData name="Dr. FAWZI ABDULAZIZ MOHAMMED ALBALOOSHI" userId="195c5d33-7e1b-4a36-a6b8-5f32864a09e4" providerId="ADAL" clId="{EB10CA91-2F6A-42ED-8D09-0F5D85B30E59}" dt="2025-03-28T13:35:53.186" v="7" actId="207"/>
        <pc:sldMkLst>
          <pc:docMk/>
          <pc:sldMk cId="2476875158" sldId="257"/>
        </pc:sldMkLst>
        <pc:spChg chg="mod">
          <ac:chgData name="Dr. FAWZI ABDULAZIZ MOHAMMED ALBALOOSHI" userId="195c5d33-7e1b-4a36-a6b8-5f32864a09e4" providerId="ADAL" clId="{EB10CA91-2F6A-42ED-8D09-0F5D85B30E59}" dt="2025-03-28T13:35:53.186" v="7" actId="207"/>
          <ac:spMkLst>
            <pc:docMk/>
            <pc:sldMk cId="2476875158" sldId="257"/>
            <ac:spMk id="4" creationId="{5182FEA2-8BD5-AEA0-694B-BABFB26AF90E}"/>
          </ac:spMkLst>
        </pc:spChg>
      </pc:sldChg>
      <pc:sldChg chg="modSp mod">
        <pc:chgData name="Dr. FAWZI ABDULAZIZ MOHAMMED ALBALOOSHI" userId="195c5d33-7e1b-4a36-a6b8-5f32864a09e4" providerId="ADAL" clId="{EB10CA91-2F6A-42ED-8D09-0F5D85B30E59}" dt="2025-03-28T13:36:00.729" v="8"/>
        <pc:sldMkLst>
          <pc:docMk/>
          <pc:sldMk cId="3725047582" sldId="259"/>
        </pc:sldMkLst>
        <pc:spChg chg="mod">
          <ac:chgData name="Dr. FAWZI ABDULAZIZ MOHAMMED ALBALOOSHI" userId="195c5d33-7e1b-4a36-a6b8-5f32864a09e4" providerId="ADAL" clId="{EB10CA91-2F6A-42ED-8D09-0F5D85B30E59}" dt="2025-03-28T13:36:00.729" v="8"/>
          <ac:spMkLst>
            <pc:docMk/>
            <pc:sldMk cId="3725047582" sldId="259"/>
            <ac:spMk id="4" creationId="{3D804FF1-26A5-7866-E958-FBAC46516978}"/>
          </ac:spMkLst>
        </pc:spChg>
      </pc:sldChg>
      <pc:sldChg chg="modSp mod">
        <pc:chgData name="Dr. FAWZI ABDULAZIZ MOHAMMED ALBALOOSHI" userId="195c5d33-7e1b-4a36-a6b8-5f32864a09e4" providerId="ADAL" clId="{EB10CA91-2F6A-42ED-8D09-0F5D85B30E59}" dt="2025-03-28T13:37:20.855" v="24"/>
        <pc:sldMkLst>
          <pc:docMk/>
          <pc:sldMk cId="3913719529" sldId="270"/>
        </pc:sldMkLst>
        <pc:spChg chg="mod">
          <ac:chgData name="Dr. FAWZI ABDULAZIZ MOHAMMED ALBALOOSHI" userId="195c5d33-7e1b-4a36-a6b8-5f32864a09e4" providerId="ADAL" clId="{EB10CA91-2F6A-42ED-8D09-0F5D85B30E59}" dt="2025-03-28T13:37:20.855" v="24"/>
          <ac:spMkLst>
            <pc:docMk/>
            <pc:sldMk cId="3913719529" sldId="270"/>
            <ac:spMk id="4" creationId="{47DE27FB-B3F2-E538-0100-AB725CFFD6FD}"/>
          </ac:spMkLst>
        </pc:spChg>
      </pc:sldChg>
      <pc:sldChg chg="modSp mod">
        <pc:chgData name="Dr. FAWZI ABDULAZIZ MOHAMMED ALBALOOSHI" userId="195c5d33-7e1b-4a36-a6b8-5f32864a09e4" providerId="ADAL" clId="{EB10CA91-2F6A-42ED-8D09-0F5D85B30E59}" dt="2025-03-28T13:36:21.462" v="11"/>
        <pc:sldMkLst>
          <pc:docMk/>
          <pc:sldMk cId="3443598188" sldId="271"/>
        </pc:sldMkLst>
        <pc:spChg chg="mod">
          <ac:chgData name="Dr. FAWZI ABDULAZIZ MOHAMMED ALBALOOSHI" userId="195c5d33-7e1b-4a36-a6b8-5f32864a09e4" providerId="ADAL" clId="{EB10CA91-2F6A-42ED-8D09-0F5D85B30E59}" dt="2025-03-28T13:36:21.462" v="11"/>
          <ac:spMkLst>
            <pc:docMk/>
            <pc:sldMk cId="3443598188" sldId="271"/>
            <ac:spMk id="4" creationId="{A5F71B27-37D7-CFAA-1EA1-37947CE9E49C}"/>
          </ac:spMkLst>
        </pc:spChg>
      </pc:sldChg>
      <pc:sldChg chg="modSp mod">
        <pc:chgData name="Dr. FAWZI ABDULAZIZ MOHAMMED ALBALOOSHI" userId="195c5d33-7e1b-4a36-a6b8-5f32864a09e4" providerId="ADAL" clId="{EB10CA91-2F6A-42ED-8D09-0F5D85B30E59}" dt="2025-03-28T13:36:28.300" v="12"/>
        <pc:sldMkLst>
          <pc:docMk/>
          <pc:sldMk cId="1287083998" sldId="272"/>
        </pc:sldMkLst>
        <pc:spChg chg="mod">
          <ac:chgData name="Dr. FAWZI ABDULAZIZ MOHAMMED ALBALOOSHI" userId="195c5d33-7e1b-4a36-a6b8-5f32864a09e4" providerId="ADAL" clId="{EB10CA91-2F6A-42ED-8D09-0F5D85B30E59}" dt="2025-03-28T13:36:28.300" v="12"/>
          <ac:spMkLst>
            <pc:docMk/>
            <pc:sldMk cId="1287083998" sldId="272"/>
            <ac:spMk id="4" creationId="{20F8078D-0240-986D-0CC1-4A705D640694}"/>
          </ac:spMkLst>
        </pc:spChg>
      </pc:sldChg>
      <pc:sldChg chg="modSp mod">
        <pc:chgData name="Dr. FAWZI ABDULAZIZ MOHAMMED ALBALOOSHI" userId="195c5d33-7e1b-4a36-a6b8-5f32864a09e4" providerId="ADAL" clId="{EB10CA91-2F6A-42ED-8D09-0F5D85B30E59}" dt="2025-03-28T13:36:46.167" v="16"/>
        <pc:sldMkLst>
          <pc:docMk/>
          <pc:sldMk cId="1650542494" sldId="273"/>
        </pc:sldMkLst>
        <pc:spChg chg="mod">
          <ac:chgData name="Dr. FAWZI ABDULAZIZ MOHAMMED ALBALOOSHI" userId="195c5d33-7e1b-4a36-a6b8-5f32864a09e4" providerId="ADAL" clId="{EB10CA91-2F6A-42ED-8D09-0F5D85B30E59}" dt="2025-03-28T13:36:46.167" v="16"/>
          <ac:spMkLst>
            <pc:docMk/>
            <pc:sldMk cId="1650542494" sldId="273"/>
            <ac:spMk id="4" creationId="{57E5FE26-AE07-C555-F467-1F1CD413CFAA}"/>
          </ac:spMkLst>
        </pc:spChg>
      </pc:sldChg>
      <pc:sldChg chg="modSp mod">
        <pc:chgData name="Dr. FAWZI ABDULAZIZ MOHAMMED ALBALOOSHI" userId="195c5d33-7e1b-4a36-a6b8-5f32864a09e4" providerId="ADAL" clId="{EB10CA91-2F6A-42ED-8D09-0F5D85B30E59}" dt="2025-03-28T13:36:50.234" v="17"/>
        <pc:sldMkLst>
          <pc:docMk/>
          <pc:sldMk cId="2066461805" sldId="274"/>
        </pc:sldMkLst>
        <pc:spChg chg="mod">
          <ac:chgData name="Dr. FAWZI ABDULAZIZ MOHAMMED ALBALOOSHI" userId="195c5d33-7e1b-4a36-a6b8-5f32864a09e4" providerId="ADAL" clId="{EB10CA91-2F6A-42ED-8D09-0F5D85B30E59}" dt="2025-03-28T13:36:50.234" v="17"/>
          <ac:spMkLst>
            <pc:docMk/>
            <pc:sldMk cId="2066461805" sldId="274"/>
            <ac:spMk id="4" creationId="{C18840F8-506D-F79A-FE62-1E7BBD552EF6}"/>
          </ac:spMkLst>
        </pc:spChg>
      </pc:sldChg>
      <pc:sldChg chg="modSp mod">
        <pc:chgData name="Dr. FAWZI ABDULAZIZ MOHAMMED ALBALOOSHI" userId="195c5d33-7e1b-4a36-a6b8-5f32864a09e4" providerId="ADAL" clId="{EB10CA91-2F6A-42ED-8D09-0F5D85B30E59}" dt="2025-03-28T13:36:59.216" v="19"/>
        <pc:sldMkLst>
          <pc:docMk/>
          <pc:sldMk cId="1134966465" sldId="275"/>
        </pc:sldMkLst>
        <pc:spChg chg="mod">
          <ac:chgData name="Dr. FAWZI ABDULAZIZ MOHAMMED ALBALOOSHI" userId="195c5d33-7e1b-4a36-a6b8-5f32864a09e4" providerId="ADAL" clId="{EB10CA91-2F6A-42ED-8D09-0F5D85B30E59}" dt="2025-03-28T13:36:59.216" v="19"/>
          <ac:spMkLst>
            <pc:docMk/>
            <pc:sldMk cId="1134966465" sldId="275"/>
            <ac:spMk id="4" creationId="{A93E0C98-491F-EB14-6437-1102C993A53A}"/>
          </ac:spMkLst>
        </pc:spChg>
      </pc:sldChg>
      <pc:sldChg chg="modSp mod">
        <pc:chgData name="Dr. FAWZI ABDULAZIZ MOHAMMED ALBALOOSHI" userId="195c5d33-7e1b-4a36-a6b8-5f32864a09e4" providerId="ADAL" clId="{EB10CA91-2F6A-42ED-8D09-0F5D85B30E59}" dt="2025-03-28T13:37:04.534" v="20"/>
        <pc:sldMkLst>
          <pc:docMk/>
          <pc:sldMk cId="1658571727" sldId="276"/>
        </pc:sldMkLst>
        <pc:spChg chg="mod">
          <ac:chgData name="Dr. FAWZI ABDULAZIZ MOHAMMED ALBALOOSHI" userId="195c5d33-7e1b-4a36-a6b8-5f32864a09e4" providerId="ADAL" clId="{EB10CA91-2F6A-42ED-8D09-0F5D85B30E59}" dt="2025-03-28T13:37:04.534" v="20"/>
          <ac:spMkLst>
            <pc:docMk/>
            <pc:sldMk cId="1658571727" sldId="276"/>
            <ac:spMk id="4" creationId="{CC35861A-E9C6-B65B-2AE5-C3B052C7F9A2}"/>
          </ac:spMkLst>
        </pc:spChg>
      </pc:sldChg>
      <pc:sldChg chg="modSp mod">
        <pc:chgData name="Dr. FAWZI ABDULAZIZ MOHAMMED ALBALOOSHI" userId="195c5d33-7e1b-4a36-a6b8-5f32864a09e4" providerId="ADAL" clId="{EB10CA91-2F6A-42ED-8D09-0F5D85B30E59}" dt="2025-03-28T13:37:08.185" v="21"/>
        <pc:sldMkLst>
          <pc:docMk/>
          <pc:sldMk cId="4139615530" sldId="277"/>
        </pc:sldMkLst>
        <pc:spChg chg="mod">
          <ac:chgData name="Dr. FAWZI ABDULAZIZ MOHAMMED ALBALOOSHI" userId="195c5d33-7e1b-4a36-a6b8-5f32864a09e4" providerId="ADAL" clId="{EB10CA91-2F6A-42ED-8D09-0F5D85B30E59}" dt="2025-03-28T13:37:08.185" v="21"/>
          <ac:spMkLst>
            <pc:docMk/>
            <pc:sldMk cId="4139615530" sldId="277"/>
            <ac:spMk id="4" creationId="{548941FB-008A-C5D1-9614-A11277CA36F3}"/>
          </ac:spMkLst>
        </pc:spChg>
      </pc:sldChg>
      <pc:sldChg chg="modSp mod">
        <pc:chgData name="Dr. FAWZI ABDULAZIZ MOHAMMED ALBALOOSHI" userId="195c5d33-7e1b-4a36-a6b8-5f32864a09e4" providerId="ADAL" clId="{EB10CA91-2F6A-42ED-8D09-0F5D85B30E59}" dt="2025-03-28T13:37:12.604" v="22"/>
        <pc:sldMkLst>
          <pc:docMk/>
          <pc:sldMk cId="78454716" sldId="278"/>
        </pc:sldMkLst>
        <pc:spChg chg="mod">
          <ac:chgData name="Dr. FAWZI ABDULAZIZ MOHAMMED ALBALOOSHI" userId="195c5d33-7e1b-4a36-a6b8-5f32864a09e4" providerId="ADAL" clId="{EB10CA91-2F6A-42ED-8D09-0F5D85B30E59}" dt="2025-03-28T13:37:12.604" v="22"/>
          <ac:spMkLst>
            <pc:docMk/>
            <pc:sldMk cId="78454716" sldId="278"/>
            <ac:spMk id="4" creationId="{69100606-A4EB-A9E2-E87B-71CC4482E1BB}"/>
          </ac:spMkLst>
        </pc:spChg>
      </pc:sldChg>
      <pc:sldChg chg="modSp mod">
        <pc:chgData name="Dr. FAWZI ABDULAZIZ MOHAMMED ALBALOOSHI" userId="195c5d33-7e1b-4a36-a6b8-5f32864a09e4" providerId="ADAL" clId="{EB10CA91-2F6A-42ED-8D09-0F5D85B30E59}" dt="2025-03-28T13:37:16.087" v="23"/>
        <pc:sldMkLst>
          <pc:docMk/>
          <pc:sldMk cId="1522894349" sldId="279"/>
        </pc:sldMkLst>
        <pc:spChg chg="mod">
          <ac:chgData name="Dr. FAWZI ABDULAZIZ MOHAMMED ALBALOOSHI" userId="195c5d33-7e1b-4a36-a6b8-5f32864a09e4" providerId="ADAL" clId="{EB10CA91-2F6A-42ED-8D09-0F5D85B30E59}" dt="2025-03-28T13:37:16.087" v="23"/>
          <ac:spMkLst>
            <pc:docMk/>
            <pc:sldMk cId="1522894349" sldId="279"/>
            <ac:spMk id="4" creationId="{D1B72F48-B7BC-7333-B461-69440F06B005}"/>
          </ac:spMkLst>
        </pc:spChg>
      </pc:sldChg>
      <pc:sldChg chg="modSp mod">
        <pc:chgData name="Dr. FAWZI ABDULAZIZ MOHAMMED ALBALOOSHI" userId="195c5d33-7e1b-4a36-a6b8-5f32864a09e4" providerId="ADAL" clId="{EB10CA91-2F6A-42ED-8D09-0F5D85B30E59}" dt="2025-03-28T13:37:24.674" v="25"/>
        <pc:sldMkLst>
          <pc:docMk/>
          <pc:sldMk cId="1087139936" sldId="280"/>
        </pc:sldMkLst>
        <pc:spChg chg="mod">
          <ac:chgData name="Dr. FAWZI ABDULAZIZ MOHAMMED ALBALOOSHI" userId="195c5d33-7e1b-4a36-a6b8-5f32864a09e4" providerId="ADAL" clId="{EB10CA91-2F6A-42ED-8D09-0F5D85B30E59}" dt="2025-03-28T13:37:24.674" v="25"/>
          <ac:spMkLst>
            <pc:docMk/>
            <pc:sldMk cId="1087139936" sldId="280"/>
            <ac:spMk id="4" creationId="{F2D373FA-1B21-5DFA-54B2-125B3BE6EF67}"/>
          </ac:spMkLst>
        </pc:spChg>
      </pc:sldChg>
      <pc:sldChg chg="modSp mod">
        <pc:chgData name="Dr. FAWZI ABDULAZIZ MOHAMMED ALBALOOSHI" userId="195c5d33-7e1b-4a36-a6b8-5f32864a09e4" providerId="ADAL" clId="{EB10CA91-2F6A-42ED-8D09-0F5D85B30E59}" dt="2025-03-28T13:36:32.308" v="13"/>
        <pc:sldMkLst>
          <pc:docMk/>
          <pc:sldMk cId="1229276593" sldId="281"/>
        </pc:sldMkLst>
        <pc:spChg chg="mod">
          <ac:chgData name="Dr. FAWZI ABDULAZIZ MOHAMMED ALBALOOSHI" userId="195c5d33-7e1b-4a36-a6b8-5f32864a09e4" providerId="ADAL" clId="{EB10CA91-2F6A-42ED-8D09-0F5D85B30E59}" dt="2025-03-28T13:36:32.308" v="13"/>
          <ac:spMkLst>
            <pc:docMk/>
            <pc:sldMk cId="1229276593" sldId="281"/>
            <ac:spMk id="4" creationId="{0B0A0A4F-464C-1A62-0A5A-C6580091E1E9}"/>
          </ac:spMkLst>
        </pc:spChg>
      </pc:sldChg>
      <pc:sldChg chg="modSp mod">
        <pc:chgData name="Dr. FAWZI ABDULAZIZ MOHAMMED ALBALOOSHI" userId="195c5d33-7e1b-4a36-a6b8-5f32864a09e4" providerId="ADAL" clId="{EB10CA91-2F6A-42ED-8D09-0F5D85B30E59}" dt="2025-03-28T13:36:40.144" v="15"/>
        <pc:sldMkLst>
          <pc:docMk/>
          <pc:sldMk cId="2309523123" sldId="282"/>
        </pc:sldMkLst>
        <pc:spChg chg="mod">
          <ac:chgData name="Dr. FAWZI ABDULAZIZ MOHAMMED ALBALOOSHI" userId="195c5d33-7e1b-4a36-a6b8-5f32864a09e4" providerId="ADAL" clId="{EB10CA91-2F6A-42ED-8D09-0F5D85B30E59}" dt="2025-03-28T13:36:40.144" v="15"/>
          <ac:spMkLst>
            <pc:docMk/>
            <pc:sldMk cId="2309523123" sldId="282"/>
            <ac:spMk id="4" creationId="{B826707B-A21E-FC6C-FDEB-E1265E874228}"/>
          </ac:spMkLst>
        </pc:spChg>
      </pc:sldChg>
      <pc:sldChg chg="modSp mod">
        <pc:chgData name="Dr. FAWZI ABDULAZIZ MOHAMMED ALBALOOSHI" userId="195c5d33-7e1b-4a36-a6b8-5f32864a09e4" providerId="ADAL" clId="{EB10CA91-2F6A-42ED-8D09-0F5D85B30E59}" dt="2025-03-28T13:36:36.200" v="14"/>
        <pc:sldMkLst>
          <pc:docMk/>
          <pc:sldMk cId="4021395465" sldId="283"/>
        </pc:sldMkLst>
        <pc:spChg chg="mod">
          <ac:chgData name="Dr. FAWZI ABDULAZIZ MOHAMMED ALBALOOSHI" userId="195c5d33-7e1b-4a36-a6b8-5f32864a09e4" providerId="ADAL" clId="{EB10CA91-2F6A-42ED-8D09-0F5D85B30E59}" dt="2025-03-28T13:36:36.200" v="14"/>
          <ac:spMkLst>
            <pc:docMk/>
            <pc:sldMk cId="4021395465" sldId="283"/>
            <ac:spMk id="4" creationId="{5938B967-57CD-5AE8-603A-4AE240DC57D0}"/>
          </ac:spMkLst>
        </pc:spChg>
      </pc:sldChg>
      <pc:sldChg chg="modSp mod">
        <pc:chgData name="Dr. FAWZI ABDULAZIZ MOHAMMED ALBALOOSHI" userId="195c5d33-7e1b-4a36-a6b8-5f32864a09e4" providerId="ADAL" clId="{EB10CA91-2F6A-42ED-8D09-0F5D85B30E59}" dt="2025-03-28T13:36:54.326" v="18"/>
        <pc:sldMkLst>
          <pc:docMk/>
          <pc:sldMk cId="1760863204" sldId="284"/>
        </pc:sldMkLst>
        <pc:spChg chg="mod">
          <ac:chgData name="Dr. FAWZI ABDULAZIZ MOHAMMED ALBALOOSHI" userId="195c5d33-7e1b-4a36-a6b8-5f32864a09e4" providerId="ADAL" clId="{EB10CA91-2F6A-42ED-8D09-0F5D85B30E59}" dt="2025-03-28T13:36:54.326" v="18"/>
          <ac:spMkLst>
            <pc:docMk/>
            <pc:sldMk cId="1760863204" sldId="284"/>
            <ac:spMk id="3" creationId="{7152B432-A614-1DB0-A41E-8F8A5FA5CF06}"/>
          </ac:spMkLst>
        </pc:spChg>
      </pc:sldChg>
      <pc:sldChg chg="delSp mod">
        <pc:chgData name="Dr. FAWZI ABDULAZIZ MOHAMMED ALBALOOSHI" userId="195c5d33-7e1b-4a36-a6b8-5f32864a09e4" providerId="ADAL" clId="{EB10CA91-2F6A-42ED-8D09-0F5D85B30E59}" dt="2025-03-28T13:36:10.931" v="9" actId="478"/>
        <pc:sldMkLst>
          <pc:docMk/>
          <pc:sldMk cId="1370261936" sldId="285"/>
        </pc:sldMkLst>
        <pc:spChg chg="del">
          <ac:chgData name="Dr. FAWZI ABDULAZIZ MOHAMMED ALBALOOSHI" userId="195c5d33-7e1b-4a36-a6b8-5f32864a09e4" providerId="ADAL" clId="{EB10CA91-2F6A-42ED-8D09-0F5D85B30E59}" dt="2025-03-28T13:36:10.931" v="9" actId="478"/>
          <ac:spMkLst>
            <pc:docMk/>
            <pc:sldMk cId="1370261936" sldId="285"/>
            <ac:spMk id="5" creationId="{6082A312-CCD9-509F-11EA-0B124ADA6459}"/>
          </ac:spMkLst>
        </pc:spChg>
      </pc:sldChg>
      <pc:sldChg chg="modSp mod">
        <pc:chgData name="Dr. FAWZI ABDULAZIZ MOHAMMED ALBALOOSHI" userId="195c5d33-7e1b-4a36-a6b8-5f32864a09e4" providerId="ADAL" clId="{EB10CA91-2F6A-42ED-8D09-0F5D85B30E59}" dt="2025-03-28T13:36:16.691" v="10"/>
        <pc:sldMkLst>
          <pc:docMk/>
          <pc:sldMk cId="3812242420" sldId="286"/>
        </pc:sldMkLst>
        <pc:spChg chg="mod">
          <ac:chgData name="Dr. FAWZI ABDULAZIZ MOHAMMED ALBALOOSHI" userId="195c5d33-7e1b-4a36-a6b8-5f32864a09e4" providerId="ADAL" clId="{EB10CA91-2F6A-42ED-8D09-0F5D85B30E59}" dt="2025-03-28T13:36:16.691" v="10"/>
          <ac:spMkLst>
            <pc:docMk/>
            <pc:sldMk cId="3812242420" sldId="286"/>
            <ac:spMk id="4" creationId="{91A56A51-3E67-BC9B-E65C-14B2287DF2BC}"/>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B851E78-8274-4BC8-BA6D-BEAA08F92E33}" type="datetimeFigureOut">
              <a:rPr lang="en-US" smtClean="0"/>
              <a:t>3/28/2025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37AAE4F-F719-4FE1-92C3-6C73CFA45D05}" type="slidenum">
              <a:rPr lang="en-US" smtClean="0"/>
              <a:t>‹#›</a:t>
            </a:fld>
            <a:endParaRPr lang="en-US"/>
          </a:p>
        </p:txBody>
      </p:sp>
    </p:spTree>
    <p:extLst>
      <p:ext uri="{BB962C8B-B14F-4D97-AF65-F5344CB8AC3E}">
        <p14:creationId xmlns:p14="http://schemas.microsoft.com/office/powerpoint/2010/main" val="348636873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0062F8-43D3-199F-3E46-BB3399BAAB1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D8C5FA5B-BE56-BF6D-BCAF-40AC6452535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47F128C0-7599-DFD8-68B1-DD20FD21621B}"/>
              </a:ext>
            </a:extLst>
          </p:cNvPr>
          <p:cNvSpPr>
            <a:spLocks noGrp="1"/>
          </p:cNvSpPr>
          <p:nvPr>
            <p:ph type="dt" sz="half" idx="10"/>
          </p:nvPr>
        </p:nvSpPr>
        <p:spPr/>
        <p:txBody>
          <a:bodyPr/>
          <a:lstStyle/>
          <a:p>
            <a:fld id="{386F308F-540C-4FEE-92BC-CB125AD14254}" type="datetime1">
              <a:rPr lang="en-GB" smtClean="0"/>
              <a:t>28/03/2025</a:t>
            </a:fld>
            <a:endParaRPr lang="en-GB"/>
          </a:p>
        </p:txBody>
      </p:sp>
      <p:sp>
        <p:nvSpPr>
          <p:cNvPr id="5" name="Footer Placeholder 4">
            <a:extLst>
              <a:ext uri="{FF2B5EF4-FFF2-40B4-BE49-F238E27FC236}">
                <a16:creationId xmlns:a16="http://schemas.microsoft.com/office/drawing/2014/main" id="{BC67F25B-3285-0338-76E7-FAA1B3BB644D}"/>
              </a:ext>
            </a:extLst>
          </p:cNvPr>
          <p:cNvSpPr>
            <a:spLocks noGrp="1"/>
          </p:cNvSpPr>
          <p:nvPr>
            <p:ph type="ftr" sz="quarter" idx="11"/>
          </p:nvPr>
        </p:nvSpPr>
        <p:spPr/>
        <p:txBody>
          <a:bodyPr/>
          <a:lstStyle/>
          <a:p>
            <a:r>
              <a:rPr lang="en-US"/>
              <a:t>Prepared by Dr. Fawzi Albalooshi</a:t>
            </a:r>
            <a:endParaRPr lang="en-GB"/>
          </a:p>
        </p:txBody>
      </p:sp>
      <p:sp>
        <p:nvSpPr>
          <p:cNvPr id="6" name="Slide Number Placeholder 5">
            <a:extLst>
              <a:ext uri="{FF2B5EF4-FFF2-40B4-BE49-F238E27FC236}">
                <a16:creationId xmlns:a16="http://schemas.microsoft.com/office/drawing/2014/main" id="{5963237A-8980-C339-CEFB-F5840DA1064C}"/>
              </a:ext>
            </a:extLst>
          </p:cNvPr>
          <p:cNvSpPr>
            <a:spLocks noGrp="1"/>
          </p:cNvSpPr>
          <p:nvPr>
            <p:ph type="sldNum" sz="quarter" idx="12"/>
          </p:nvPr>
        </p:nvSpPr>
        <p:spPr/>
        <p:txBody>
          <a:bodyPr/>
          <a:lstStyle/>
          <a:p>
            <a:fld id="{8E92B342-1B55-4BA0-B6EF-9526E27B354D}" type="slidenum">
              <a:rPr lang="en-GB" smtClean="0"/>
              <a:t>‹#›</a:t>
            </a:fld>
            <a:endParaRPr lang="en-GB"/>
          </a:p>
        </p:txBody>
      </p:sp>
    </p:spTree>
    <p:extLst>
      <p:ext uri="{BB962C8B-B14F-4D97-AF65-F5344CB8AC3E}">
        <p14:creationId xmlns:p14="http://schemas.microsoft.com/office/powerpoint/2010/main" val="36698449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B72F44-A7D4-D9A8-E199-1062F5A988E3}"/>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57E1AEC0-9E15-9AAB-E5F8-689A1EA6129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984BC5FF-0BC0-E4FC-1172-673D53731F66}"/>
              </a:ext>
            </a:extLst>
          </p:cNvPr>
          <p:cNvSpPr>
            <a:spLocks noGrp="1"/>
          </p:cNvSpPr>
          <p:nvPr>
            <p:ph type="dt" sz="half" idx="10"/>
          </p:nvPr>
        </p:nvSpPr>
        <p:spPr/>
        <p:txBody>
          <a:bodyPr/>
          <a:lstStyle/>
          <a:p>
            <a:fld id="{C74843F0-628B-4430-B594-6C4A6A26EB57}" type="datetime1">
              <a:rPr lang="en-GB" smtClean="0"/>
              <a:t>28/03/2025</a:t>
            </a:fld>
            <a:endParaRPr lang="en-GB"/>
          </a:p>
        </p:txBody>
      </p:sp>
      <p:sp>
        <p:nvSpPr>
          <p:cNvPr id="5" name="Footer Placeholder 4">
            <a:extLst>
              <a:ext uri="{FF2B5EF4-FFF2-40B4-BE49-F238E27FC236}">
                <a16:creationId xmlns:a16="http://schemas.microsoft.com/office/drawing/2014/main" id="{3C90F1EB-5D49-D75D-4105-D9338E94F695}"/>
              </a:ext>
            </a:extLst>
          </p:cNvPr>
          <p:cNvSpPr>
            <a:spLocks noGrp="1"/>
          </p:cNvSpPr>
          <p:nvPr>
            <p:ph type="ftr" sz="quarter" idx="11"/>
          </p:nvPr>
        </p:nvSpPr>
        <p:spPr/>
        <p:txBody>
          <a:bodyPr/>
          <a:lstStyle/>
          <a:p>
            <a:r>
              <a:rPr lang="en-US"/>
              <a:t>Prepared by Dr. Fawzi Albalooshi</a:t>
            </a:r>
            <a:endParaRPr lang="en-GB"/>
          </a:p>
        </p:txBody>
      </p:sp>
      <p:sp>
        <p:nvSpPr>
          <p:cNvPr id="6" name="Slide Number Placeholder 5">
            <a:extLst>
              <a:ext uri="{FF2B5EF4-FFF2-40B4-BE49-F238E27FC236}">
                <a16:creationId xmlns:a16="http://schemas.microsoft.com/office/drawing/2014/main" id="{25284F4B-1D30-A33D-95DC-7DB49E867B7F}"/>
              </a:ext>
            </a:extLst>
          </p:cNvPr>
          <p:cNvSpPr>
            <a:spLocks noGrp="1"/>
          </p:cNvSpPr>
          <p:nvPr>
            <p:ph type="sldNum" sz="quarter" idx="12"/>
          </p:nvPr>
        </p:nvSpPr>
        <p:spPr/>
        <p:txBody>
          <a:bodyPr/>
          <a:lstStyle/>
          <a:p>
            <a:fld id="{8E92B342-1B55-4BA0-B6EF-9526E27B354D}" type="slidenum">
              <a:rPr lang="en-GB" smtClean="0"/>
              <a:t>‹#›</a:t>
            </a:fld>
            <a:endParaRPr lang="en-GB"/>
          </a:p>
        </p:txBody>
      </p:sp>
    </p:spTree>
    <p:extLst>
      <p:ext uri="{BB962C8B-B14F-4D97-AF65-F5344CB8AC3E}">
        <p14:creationId xmlns:p14="http://schemas.microsoft.com/office/powerpoint/2010/main" val="401722445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6C5388-D077-E2B6-FAF2-89BB9C08E69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95F82E78-69B4-C053-1C97-0E0419A43B2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5DC778A-CE1C-24C8-0E91-FA84133818FD}"/>
              </a:ext>
            </a:extLst>
          </p:cNvPr>
          <p:cNvSpPr>
            <a:spLocks noGrp="1"/>
          </p:cNvSpPr>
          <p:nvPr>
            <p:ph type="dt" sz="half" idx="10"/>
          </p:nvPr>
        </p:nvSpPr>
        <p:spPr/>
        <p:txBody>
          <a:bodyPr/>
          <a:lstStyle/>
          <a:p>
            <a:fld id="{BA30043C-1232-4353-811B-950FB37D2F90}" type="datetime1">
              <a:rPr lang="en-GB" smtClean="0"/>
              <a:t>28/03/2025</a:t>
            </a:fld>
            <a:endParaRPr lang="en-GB"/>
          </a:p>
        </p:txBody>
      </p:sp>
      <p:sp>
        <p:nvSpPr>
          <p:cNvPr id="5" name="Footer Placeholder 4">
            <a:extLst>
              <a:ext uri="{FF2B5EF4-FFF2-40B4-BE49-F238E27FC236}">
                <a16:creationId xmlns:a16="http://schemas.microsoft.com/office/drawing/2014/main" id="{DEA1F6FF-301B-44B5-ED14-18F8802500C7}"/>
              </a:ext>
            </a:extLst>
          </p:cNvPr>
          <p:cNvSpPr>
            <a:spLocks noGrp="1"/>
          </p:cNvSpPr>
          <p:nvPr>
            <p:ph type="ftr" sz="quarter" idx="11"/>
          </p:nvPr>
        </p:nvSpPr>
        <p:spPr/>
        <p:txBody>
          <a:bodyPr/>
          <a:lstStyle/>
          <a:p>
            <a:r>
              <a:rPr lang="en-US"/>
              <a:t>Prepared by Dr. Fawzi Albalooshi</a:t>
            </a:r>
            <a:endParaRPr lang="en-GB"/>
          </a:p>
        </p:txBody>
      </p:sp>
      <p:sp>
        <p:nvSpPr>
          <p:cNvPr id="6" name="Slide Number Placeholder 5">
            <a:extLst>
              <a:ext uri="{FF2B5EF4-FFF2-40B4-BE49-F238E27FC236}">
                <a16:creationId xmlns:a16="http://schemas.microsoft.com/office/drawing/2014/main" id="{7EABA1B1-5E36-C516-959A-9CA6AA4D4E98}"/>
              </a:ext>
            </a:extLst>
          </p:cNvPr>
          <p:cNvSpPr>
            <a:spLocks noGrp="1"/>
          </p:cNvSpPr>
          <p:nvPr>
            <p:ph type="sldNum" sz="quarter" idx="12"/>
          </p:nvPr>
        </p:nvSpPr>
        <p:spPr/>
        <p:txBody>
          <a:bodyPr/>
          <a:lstStyle/>
          <a:p>
            <a:fld id="{8E92B342-1B55-4BA0-B6EF-9526E27B354D}" type="slidenum">
              <a:rPr lang="en-GB" smtClean="0"/>
              <a:t>‹#›</a:t>
            </a:fld>
            <a:endParaRPr lang="en-GB"/>
          </a:p>
        </p:txBody>
      </p:sp>
    </p:spTree>
    <p:extLst>
      <p:ext uri="{BB962C8B-B14F-4D97-AF65-F5344CB8AC3E}">
        <p14:creationId xmlns:p14="http://schemas.microsoft.com/office/powerpoint/2010/main" val="310114835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5C2AA8-911E-FC4A-A1BB-EEF972981BEA}"/>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599BB8B5-12FB-B52A-23B8-A381D989318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1B0E8D02-4FCC-E949-47EB-AAF2B6F03E6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D79C0D5A-6E9C-9387-4303-FCD1A08BB999}"/>
              </a:ext>
            </a:extLst>
          </p:cNvPr>
          <p:cNvSpPr>
            <a:spLocks noGrp="1"/>
          </p:cNvSpPr>
          <p:nvPr>
            <p:ph type="dt" sz="half" idx="10"/>
          </p:nvPr>
        </p:nvSpPr>
        <p:spPr/>
        <p:txBody>
          <a:bodyPr/>
          <a:lstStyle/>
          <a:p>
            <a:fld id="{89FC545E-03A1-43FC-9773-526546A09A9A}" type="datetime1">
              <a:rPr lang="en-GB" smtClean="0"/>
              <a:t>28/03/2025</a:t>
            </a:fld>
            <a:endParaRPr lang="en-GB"/>
          </a:p>
        </p:txBody>
      </p:sp>
      <p:sp>
        <p:nvSpPr>
          <p:cNvPr id="6" name="Footer Placeholder 5">
            <a:extLst>
              <a:ext uri="{FF2B5EF4-FFF2-40B4-BE49-F238E27FC236}">
                <a16:creationId xmlns:a16="http://schemas.microsoft.com/office/drawing/2014/main" id="{3FE2824A-9AFB-AFBF-B688-2E35A5EF9836}"/>
              </a:ext>
            </a:extLst>
          </p:cNvPr>
          <p:cNvSpPr>
            <a:spLocks noGrp="1"/>
          </p:cNvSpPr>
          <p:nvPr>
            <p:ph type="ftr" sz="quarter" idx="11"/>
          </p:nvPr>
        </p:nvSpPr>
        <p:spPr/>
        <p:txBody>
          <a:bodyPr/>
          <a:lstStyle/>
          <a:p>
            <a:r>
              <a:rPr lang="en-US"/>
              <a:t>Prepared by Dr. Fawzi Albalooshi</a:t>
            </a:r>
            <a:endParaRPr lang="en-GB"/>
          </a:p>
        </p:txBody>
      </p:sp>
      <p:sp>
        <p:nvSpPr>
          <p:cNvPr id="7" name="Slide Number Placeholder 6">
            <a:extLst>
              <a:ext uri="{FF2B5EF4-FFF2-40B4-BE49-F238E27FC236}">
                <a16:creationId xmlns:a16="http://schemas.microsoft.com/office/drawing/2014/main" id="{F6E64AC6-DE26-791D-D9A6-819A6232C52F}"/>
              </a:ext>
            </a:extLst>
          </p:cNvPr>
          <p:cNvSpPr>
            <a:spLocks noGrp="1"/>
          </p:cNvSpPr>
          <p:nvPr>
            <p:ph type="sldNum" sz="quarter" idx="12"/>
          </p:nvPr>
        </p:nvSpPr>
        <p:spPr/>
        <p:txBody>
          <a:bodyPr/>
          <a:lstStyle/>
          <a:p>
            <a:fld id="{8E92B342-1B55-4BA0-B6EF-9526E27B354D}" type="slidenum">
              <a:rPr lang="en-GB" smtClean="0"/>
              <a:t>‹#›</a:t>
            </a:fld>
            <a:endParaRPr lang="en-GB"/>
          </a:p>
        </p:txBody>
      </p:sp>
    </p:spTree>
    <p:extLst>
      <p:ext uri="{BB962C8B-B14F-4D97-AF65-F5344CB8AC3E}">
        <p14:creationId xmlns:p14="http://schemas.microsoft.com/office/powerpoint/2010/main" val="17820994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93587-4C4B-F9D5-FC00-A9FFCC60A69E}"/>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FFF050F5-D652-28AB-0891-DE7785C9E4F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5CBBDA2-6FB1-6319-923D-433F76EE442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6D384D03-954B-8719-2E79-25AE0646842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1EE7FA9-5874-537A-92C8-D512956016F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AA631DA3-38CA-C102-861D-445B7F3FC3BD}"/>
              </a:ext>
            </a:extLst>
          </p:cNvPr>
          <p:cNvSpPr>
            <a:spLocks noGrp="1"/>
          </p:cNvSpPr>
          <p:nvPr>
            <p:ph type="dt" sz="half" idx="10"/>
          </p:nvPr>
        </p:nvSpPr>
        <p:spPr/>
        <p:txBody>
          <a:bodyPr/>
          <a:lstStyle/>
          <a:p>
            <a:fld id="{574F253A-9B9F-4545-A501-5EAD1EBEBDCD}" type="datetime1">
              <a:rPr lang="en-GB" smtClean="0"/>
              <a:t>28/03/2025</a:t>
            </a:fld>
            <a:endParaRPr lang="en-GB"/>
          </a:p>
        </p:txBody>
      </p:sp>
      <p:sp>
        <p:nvSpPr>
          <p:cNvPr id="8" name="Footer Placeholder 7">
            <a:extLst>
              <a:ext uri="{FF2B5EF4-FFF2-40B4-BE49-F238E27FC236}">
                <a16:creationId xmlns:a16="http://schemas.microsoft.com/office/drawing/2014/main" id="{66889AE1-B4E3-4358-2A91-F070E06881C9}"/>
              </a:ext>
            </a:extLst>
          </p:cNvPr>
          <p:cNvSpPr>
            <a:spLocks noGrp="1"/>
          </p:cNvSpPr>
          <p:nvPr>
            <p:ph type="ftr" sz="quarter" idx="11"/>
          </p:nvPr>
        </p:nvSpPr>
        <p:spPr/>
        <p:txBody>
          <a:bodyPr/>
          <a:lstStyle/>
          <a:p>
            <a:r>
              <a:rPr lang="en-US"/>
              <a:t>Prepared by Dr. Fawzi Albalooshi</a:t>
            </a:r>
            <a:endParaRPr lang="en-GB"/>
          </a:p>
        </p:txBody>
      </p:sp>
      <p:sp>
        <p:nvSpPr>
          <p:cNvPr id="9" name="Slide Number Placeholder 8">
            <a:extLst>
              <a:ext uri="{FF2B5EF4-FFF2-40B4-BE49-F238E27FC236}">
                <a16:creationId xmlns:a16="http://schemas.microsoft.com/office/drawing/2014/main" id="{251B1ABA-552F-CE48-8ADD-FD03C9311293}"/>
              </a:ext>
            </a:extLst>
          </p:cNvPr>
          <p:cNvSpPr>
            <a:spLocks noGrp="1"/>
          </p:cNvSpPr>
          <p:nvPr>
            <p:ph type="sldNum" sz="quarter" idx="12"/>
          </p:nvPr>
        </p:nvSpPr>
        <p:spPr/>
        <p:txBody>
          <a:bodyPr/>
          <a:lstStyle/>
          <a:p>
            <a:fld id="{8E92B342-1B55-4BA0-B6EF-9526E27B354D}" type="slidenum">
              <a:rPr lang="en-GB" smtClean="0"/>
              <a:t>‹#›</a:t>
            </a:fld>
            <a:endParaRPr lang="en-GB"/>
          </a:p>
        </p:txBody>
      </p:sp>
    </p:spTree>
    <p:extLst>
      <p:ext uri="{BB962C8B-B14F-4D97-AF65-F5344CB8AC3E}">
        <p14:creationId xmlns:p14="http://schemas.microsoft.com/office/powerpoint/2010/main" val="33285765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06A450-E728-109B-2CF2-34B9DBF72093}"/>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F7146129-B3EE-5136-09ED-0EAF33AC52DC}"/>
              </a:ext>
            </a:extLst>
          </p:cNvPr>
          <p:cNvSpPr>
            <a:spLocks noGrp="1"/>
          </p:cNvSpPr>
          <p:nvPr>
            <p:ph type="dt" sz="half" idx="10"/>
          </p:nvPr>
        </p:nvSpPr>
        <p:spPr/>
        <p:txBody>
          <a:bodyPr/>
          <a:lstStyle/>
          <a:p>
            <a:fld id="{73E478FD-0170-4138-A74D-A13345288C82}" type="datetime1">
              <a:rPr lang="en-GB" smtClean="0"/>
              <a:t>28/03/2025</a:t>
            </a:fld>
            <a:endParaRPr lang="en-GB"/>
          </a:p>
        </p:txBody>
      </p:sp>
      <p:sp>
        <p:nvSpPr>
          <p:cNvPr id="4" name="Footer Placeholder 3">
            <a:extLst>
              <a:ext uri="{FF2B5EF4-FFF2-40B4-BE49-F238E27FC236}">
                <a16:creationId xmlns:a16="http://schemas.microsoft.com/office/drawing/2014/main" id="{E01CF0C6-931B-E13D-AEBE-7D803C7D698D}"/>
              </a:ext>
            </a:extLst>
          </p:cNvPr>
          <p:cNvSpPr>
            <a:spLocks noGrp="1"/>
          </p:cNvSpPr>
          <p:nvPr>
            <p:ph type="ftr" sz="quarter" idx="11"/>
          </p:nvPr>
        </p:nvSpPr>
        <p:spPr/>
        <p:txBody>
          <a:bodyPr/>
          <a:lstStyle/>
          <a:p>
            <a:r>
              <a:rPr lang="en-US"/>
              <a:t>Prepared by Dr. Fawzi Albalooshi</a:t>
            </a:r>
            <a:endParaRPr lang="en-GB"/>
          </a:p>
        </p:txBody>
      </p:sp>
      <p:sp>
        <p:nvSpPr>
          <p:cNvPr id="5" name="Slide Number Placeholder 4">
            <a:extLst>
              <a:ext uri="{FF2B5EF4-FFF2-40B4-BE49-F238E27FC236}">
                <a16:creationId xmlns:a16="http://schemas.microsoft.com/office/drawing/2014/main" id="{BD8BAC5F-45C3-3E42-3E00-3825A1FFC2CC}"/>
              </a:ext>
            </a:extLst>
          </p:cNvPr>
          <p:cNvSpPr>
            <a:spLocks noGrp="1"/>
          </p:cNvSpPr>
          <p:nvPr>
            <p:ph type="sldNum" sz="quarter" idx="12"/>
          </p:nvPr>
        </p:nvSpPr>
        <p:spPr/>
        <p:txBody>
          <a:bodyPr/>
          <a:lstStyle/>
          <a:p>
            <a:fld id="{8E92B342-1B55-4BA0-B6EF-9526E27B354D}" type="slidenum">
              <a:rPr lang="en-GB" smtClean="0"/>
              <a:t>‹#›</a:t>
            </a:fld>
            <a:endParaRPr lang="en-GB"/>
          </a:p>
        </p:txBody>
      </p:sp>
    </p:spTree>
    <p:extLst>
      <p:ext uri="{BB962C8B-B14F-4D97-AF65-F5344CB8AC3E}">
        <p14:creationId xmlns:p14="http://schemas.microsoft.com/office/powerpoint/2010/main" val="303309380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B941074-DDE3-67A7-B45B-CBEF4652B32E}"/>
              </a:ext>
            </a:extLst>
          </p:cNvPr>
          <p:cNvSpPr>
            <a:spLocks noGrp="1"/>
          </p:cNvSpPr>
          <p:nvPr>
            <p:ph type="dt" sz="half" idx="10"/>
          </p:nvPr>
        </p:nvSpPr>
        <p:spPr/>
        <p:txBody>
          <a:bodyPr/>
          <a:lstStyle/>
          <a:p>
            <a:fld id="{CFC5C1CE-8D24-44E4-B228-9B06DE84C76F}" type="datetime1">
              <a:rPr lang="en-GB" smtClean="0"/>
              <a:t>28/03/2025</a:t>
            </a:fld>
            <a:endParaRPr lang="en-GB"/>
          </a:p>
        </p:txBody>
      </p:sp>
      <p:sp>
        <p:nvSpPr>
          <p:cNvPr id="3" name="Footer Placeholder 2">
            <a:extLst>
              <a:ext uri="{FF2B5EF4-FFF2-40B4-BE49-F238E27FC236}">
                <a16:creationId xmlns:a16="http://schemas.microsoft.com/office/drawing/2014/main" id="{216FED97-B07E-9102-DA13-80CF425AD155}"/>
              </a:ext>
            </a:extLst>
          </p:cNvPr>
          <p:cNvSpPr>
            <a:spLocks noGrp="1"/>
          </p:cNvSpPr>
          <p:nvPr>
            <p:ph type="ftr" sz="quarter" idx="11"/>
          </p:nvPr>
        </p:nvSpPr>
        <p:spPr/>
        <p:txBody>
          <a:bodyPr/>
          <a:lstStyle/>
          <a:p>
            <a:r>
              <a:rPr lang="en-US"/>
              <a:t>Prepared by Dr. Fawzi Albalooshi</a:t>
            </a:r>
            <a:endParaRPr lang="en-GB"/>
          </a:p>
        </p:txBody>
      </p:sp>
      <p:sp>
        <p:nvSpPr>
          <p:cNvPr id="4" name="Slide Number Placeholder 3">
            <a:extLst>
              <a:ext uri="{FF2B5EF4-FFF2-40B4-BE49-F238E27FC236}">
                <a16:creationId xmlns:a16="http://schemas.microsoft.com/office/drawing/2014/main" id="{45B1FC9F-BF02-F461-EED1-4FF139138FBD}"/>
              </a:ext>
            </a:extLst>
          </p:cNvPr>
          <p:cNvSpPr>
            <a:spLocks noGrp="1"/>
          </p:cNvSpPr>
          <p:nvPr>
            <p:ph type="sldNum" sz="quarter" idx="12"/>
          </p:nvPr>
        </p:nvSpPr>
        <p:spPr/>
        <p:txBody>
          <a:bodyPr/>
          <a:lstStyle/>
          <a:p>
            <a:fld id="{8E92B342-1B55-4BA0-B6EF-9526E27B354D}" type="slidenum">
              <a:rPr lang="en-GB" smtClean="0"/>
              <a:t>‹#›</a:t>
            </a:fld>
            <a:endParaRPr lang="en-GB"/>
          </a:p>
        </p:txBody>
      </p:sp>
    </p:spTree>
    <p:extLst>
      <p:ext uri="{BB962C8B-B14F-4D97-AF65-F5344CB8AC3E}">
        <p14:creationId xmlns:p14="http://schemas.microsoft.com/office/powerpoint/2010/main" val="227187916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3206F9-0DDC-7145-F27B-3B5149B8958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5EED7E01-0EA6-236B-B4FE-B53D95008B7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EB575BA1-CF20-2C98-0B73-86AADD97439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DADA615-ED03-C613-208C-F4F1B87DAAC7}"/>
              </a:ext>
            </a:extLst>
          </p:cNvPr>
          <p:cNvSpPr>
            <a:spLocks noGrp="1"/>
          </p:cNvSpPr>
          <p:nvPr>
            <p:ph type="dt" sz="half" idx="10"/>
          </p:nvPr>
        </p:nvSpPr>
        <p:spPr/>
        <p:txBody>
          <a:bodyPr/>
          <a:lstStyle/>
          <a:p>
            <a:fld id="{095EEF8F-2904-4A56-85D0-520DE340C262}" type="datetime1">
              <a:rPr lang="en-GB" smtClean="0"/>
              <a:t>28/03/2025</a:t>
            </a:fld>
            <a:endParaRPr lang="en-GB"/>
          </a:p>
        </p:txBody>
      </p:sp>
      <p:sp>
        <p:nvSpPr>
          <p:cNvPr id="6" name="Footer Placeholder 5">
            <a:extLst>
              <a:ext uri="{FF2B5EF4-FFF2-40B4-BE49-F238E27FC236}">
                <a16:creationId xmlns:a16="http://schemas.microsoft.com/office/drawing/2014/main" id="{9943B694-8CA2-D087-FAE9-6D3753CA3487}"/>
              </a:ext>
            </a:extLst>
          </p:cNvPr>
          <p:cNvSpPr>
            <a:spLocks noGrp="1"/>
          </p:cNvSpPr>
          <p:nvPr>
            <p:ph type="ftr" sz="quarter" idx="11"/>
          </p:nvPr>
        </p:nvSpPr>
        <p:spPr/>
        <p:txBody>
          <a:bodyPr/>
          <a:lstStyle/>
          <a:p>
            <a:r>
              <a:rPr lang="en-US"/>
              <a:t>Prepared by Dr. Fawzi Albalooshi</a:t>
            </a:r>
            <a:endParaRPr lang="en-GB"/>
          </a:p>
        </p:txBody>
      </p:sp>
      <p:sp>
        <p:nvSpPr>
          <p:cNvPr id="7" name="Slide Number Placeholder 6">
            <a:extLst>
              <a:ext uri="{FF2B5EF4-FFF2-40B4-BE49-F238E27FC236}">
                <a16:creationId xmlns:a16="http://schemas.microsoft.com/office/drawing/2014/main" id="{48A9C094-ADBE-9226-CB02-EE11E1603964}"/>
              </a:ext>
            </a:extLst>
          </p:cNvPr>
          <p:cNvSpPr>
            <a:spLocks noGrp="1"/>
          </p:cNvSpPr>
          <p:nvPr>
            <p:ph type="sldNum" sz="quarter" idx="12"/>
          </p:nvPr>
        </p:nvSpPr>
        <p:spPr/>
        <p:txBody>
          <a:bodyPr/>
          <a:lstStyle/>
          <a:p>
            <a:fld id="{8E92B342-1B55-4BA0-B6EF-9526E27B354D}" type="slidenum">
              <a:rPr lang="en-GB" smtClean="0"/>
              <a:t>‹#›</a:t>
            </a:fld>
            <a:endParaRPr lang="en-GB"/>
          </a:p>
        </p:txBody>
      </p:sp>
    </p:spTree>
    <p:extLst>
      <p:ext uri="{BB962C8B-B14F-4D97-AF65-F5344CB8AC3E}">
        <p14:creationId xmlns:p14="http://schemas.microsoft.com/office/powerpoint/2010/main" val="270394253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8B854D-28B3-9536-0A1C-3783CA891F5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1587825A-52B2-2E8A-AF13-2ABDB18AE3E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628A17D8-A048-C9C7-4C03-58B97B26854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B209768-3711-1C7D-9DB4-D6416208ABDA}"/>
              </a:ext>
            </a:extLst>
          </p:cNvPr>
          <p:cNvSpPr>
            <a:spLocks noGrp="1"/>
          </p:cNvSpPr>
          <p:nvPr>
            <p:ph type="dt" sz="half" idx="10"/>
          </p:nvPr>
        </p:nvSpPr>
        <p:spPr/>
        <p:txBody>
          <a:bodyPr/>
          <a:lstStyle/>
          <a:p>
            <a:fld id="{D278B502-F68D-4B81-B5CA-88C555F063DA}" type="datetime1">
              <a:rPr lang="en-GB" smtClean="0"/>
              <a:t>28/03/2025</a:t>
            </a:fld>
            <a:endParaRPr lang="en-GB"/>
          </a:p>
        </p:txBody>
      </p:sp>
      <p:sp>
        <p:nvSpPr>
          <p:cNvPr id="6" name="Footer Placeholder 5">
            <a:extLst>
              <a:ext uri="{FF2B5EF4-FFF2-40B4-BE49-F238E27FC236}">
                <a16:creationId xmlns:a16="http://schemas.microsoft.com/office/drawing/2014/main" id="{3D3AF120-B933-5B4A-07EA-5C0B255639EE}"/>
              </a:ext>
            </a:extLst>
          </p:cNvPr>
          <p:cNvSpPr>
            <a:spLocks noGrp="1"/>
          </p:cNvSpPr>
          <p:nvPr>
            <p:ph type="ftr" sz="quarter" idx="11"/>
          </p:nvPr>
        </p:nvSpPr>
        <p:spPr/>
        <p:txBody>
          <a:bodyPr/>
          <a:lstStyle/>
          <a:p>
            <a:r>
              <a:rPr lang="en-US"/>
              <a:t>Prepared by Dr. Fawzi Albalooshi</a:t>
            </a:r>
            <a:endParaRPr lang="en-GB"/>
          </a:p>
        </p:txBody>
      </p:sp>
      <p:sp>
        <p:nvSpPr>
          <p:cNvPr id="7" name="Slide Number Placeholder 6">
            <a:extLst>
              <a:ext uri="{FF2B5EF4-FFF2-40B4-BE49-F238E27FC236}">
                <a16:creationId xmlns:a16="http://schemas.microsoft.com/office/drawing/2014/main" id="{DDDF9D23-0770-297B-617E-3202154ED14A}"/>
              </a:ext>
            </a:extLst>
          </p:cNvPr>
          <p:cNvSpPr>
            <a:spLocks noGrp="1"/>
          </p:cNvSpPr>
          <p:nvPr>
            <p:ph type="sldNum" sz="quarter" idx="12"/>
          </p:nvPr>
        </p:nvSpPr>
        <p:spPr/>
        <p:txBody>
          <a:bodyPr/>
          <a:lstStyle/>
          <a:p>
            <a:fld id="{8E92B342-1B55-4BA0-B6EF-9526E27B354D}" type="slidenum">
              <a:rPr lang="en-GB" smtClean="0"/>
              <a:t>‹#›</a:t>
            </a:fld>
            <a:endParaRPr lang="en-GB"/>
          </a:p>
        </p:txBody>
      </p:sp>
    </p:spTree>
    <p:extLst>
      <p:ext uri="{BB962C8B-B14F-4D97-AF65-F5344CB8AC3E}">
        <p14:creationId xmlns:p14="http://schemas.microsoft.com/office/powerpoint/2010/main" val="37969204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70F3EB-776A-0CF5-F541-AE557E4D8A64}"/>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12E645F7-2948-36BD-3B73-D99152EFDED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4C90DF7F-0F6A-9A04-378E-D9B71A2CF572}"/>
              </a:ext>
            </a:extLst>
          </p:cNvPr>
          <p:cNvSpPr>
            <a:spLocks noGrp="1"/>
          </p:cNvSpPr>
          <p:nvPr>
            <p:ph type="dt" sz="half" idx="10"/>
          </p:nvPr>
        </p:nvSpPr>
        <p:spPr/>
        <p:txBody>
          <a:bodyPr/>
          <a:lstStyle/>
          <a:p>
            <a:fld id="{4B30ABC1-7E44-4CB2-A080-34D53BE3BE97}" type="datetime1">
              <a:rPr lang="en-GB" smtClean="0"/>
              <a:t>28/03/2025</a:t>
            </a:fld>
            <a:endParaRPr lang="en-GB"/>
          </a:p>
        </p:txBody>
      </p:sp>
      <p:sp>
        <p:nvSpPr>
          <p:cNvPr id="5" name="Footer Placeholder 4">
            <a:extLst>
              <a:ext uri="{FF2B5EF4-FFF2-40B4-BE49-F238E27FC236}">
                <a16:creationId xmlns:a16="http://schemas.microsoft.com/office/drawing/2014/main" id="{BBBE378D-BFB6-6812-74E2-BEA72E2B5225}"/>
              </a:ext>
            </a:extLst>
          </p:cNvPr>
          <p:cNvSpPr>
            <a:spLocks noGrp="1"/>
          </p:cNvSpPr>
          <p:nvPr>
            <p:ph type="ftr" sz="quarter" idx="11"/>
          </p:nvPr>
        </p:nvSpPr>
        <p:spPr/>
        <p:txBody>
          <a:bodyPr/>
          <a:lstStyle/>
          <a:p>
            <a:r>
              <a:rPr lang="en-US"/>
              <a:t>Prepared by Dr. Fawzi Albalooshi</a:t>
            </a:r>
            <a:endParaRPr lang="en-GB"/>
          </a:p>
        </p:txBody>
      </p:sp>
      <p:sp>
        <p:nvSpPr>
          <p:cNvPr id="6" name="Slide Number Placeholder 5">
            <a:extLst>
              <a:ext uri="{FF2B5EF4-FFF2-40B4-BE49-F238E27FC236}">
                <a16:creationId xmlns:a16="http://schemas.microsoft.com/office/drawing/2014/main" id="{E4A63CF7-062E-9E1C-8A90-A7F3E9B36A76}"/>
              </a:ext>
            </a:extLst>
          </p:cNvPr>
          <p:cNvSpPr>
            <a:spLocks noGrp="1"/>
          </p:cNvSpPr>
          <p:nvPr>
            <p:ph type="sldNum" sz="quarter" idx="12"/>
          </p:nvPr>
        </p:nvSpPr>
        <p:spPr/>
        <p:txBody>
          <a:bodyPr/>
          <a:lstStyle/>
          <a:p>
            <a:fld id="{8E92B342-1B55-4BA0-B6EF-9526E27B354D}" type="slidenum">
              <a:rPr lang="en-GB" smtClean="0"/>
              <a:t>‹#›</a:t>
            </a:fld>
            <a:endParaRPr lang="en-GB"/>
          </a:p>
        </p:txBody>
      </p:sp>
    </p:spTree>
    <p:extLst>
      <p:ext uri="{BB962C8B-B14F-4D97-AF65-F5344CB8AC3E}">
        <p14:creationId xmlns:p14="http://schemas.microsoft.com/office/powerpoint/2010/main" val="405309074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638B0E7-27D7-C5F5-D90A-5B03DC77ADA7}"/>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75137428-1AF9-7717-E991-A76438A41D8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7CE59D79-9186-0DC6-7619-C3694A991C24}"/>
              </a:ext>
            </a:extLst>
          </p:cNvPr>
          <p:cNvSpPr>
            <a:spLocks noGrp="1"/>
          </p:cNvSpPr>
          <p:nvPr>
            <p:ph type="dt" sz="half" idx="10"/>
          </p:nvPr>
        </p:nvSpPr>
        <p:spPr/>
        <p:txBody>
          <a:bodyPr/>
          <a:lstStyle/>
          <a:p>
            <a:fld id="{D014BAC8-597E-47E7-81F9-F5A5B24C09DE}" type="datetime1">
              <a:rPr lang="en-GB" smtClean="0"/>
              <a:t>28/03/2025</a:t>
            </a:fld>
            <a:endParaRPr lang="en-GB"/>
          </a:p>
        </p:txBody>
      </p:sp>
      <p:sp>
        <p:nvSpPr>
          <p:cNvPr id="5" name="Footer Placeholder 4">
            <a:extLst>
              <a:ext uri="{FF2B5EF4-FFF2-40B4-BE49-F238E27FC236}">
                <a16:creationId xmlns:a16="http://schemas.microsoft.com/office/drawing/2014/main" id="{47A2FC7F-8987-3438-40D8-87B1736F03EB}"/>
              </a:ext>
            </a:extLst>
          </p:cNvPr>
          <p:cNvSpPr>
            <a:spLocks noGrp="1"/>
          </p:cNvSpPr>
          <p:nvPr>
            <p:ph type="ftr" sz="quarter" idx="11"/>
          </p:nvPr>
        </p:nvSpPr>
        <p:spPr/>
        <p:txBody>
          <a:bodyPr/>
          <a:lstStyle/>
          <a:p>
            <a:r>
              <a:rPr lang="en-US"/>
              <a:t>Prepared by Dr. Fawzi Albalooshi</a:t>
            </a:r>
            <a:endParaRPr lang="en-GB"/>
          </a:p>
        </p:txBody>
      </p:sp>
      <p:sp>
        <p:nvSpPr>
          <p:cNvPr id="6" name="Slide Number Placeholder 5">
            <a:extLst>
              <a:ext uri="{FF2B5EF4-FFF2-40B4-BE49-F238E27FC236}">
                <a16:creationId xmlns:a16="http://schemas.microsoft.com/office/drawing/2014/main" id="{21CE6D24-3D29-7F83-532C-A39FE9E948B1}"/>
              </a:ext>
            </a:extLst>
          </p:cNvPr>
          <p:cNvSpPr>
            <a:spLocks noGrp="1"/>
          </p:cNvSpPr>
          <p:nvPr>
            <p:ph type="sldNum" sz="quarter" idx="12"/>
          </p:nvPr>
        </p:nvSpPr>
        <p:spPr/>
        <p:txBody>
          <a:bodyPr/>
          <a:lstStyle/>
          <a:p>
            <a:fld id="{8E92B342-1B55-4BA0-B6EF-9526E27B354D}" type="slidenum">
              <a:rPr lang="en-GB" smtClean="0"/>
              <a:t>‹#›</a:t>
            </a:fld>
            <a:endParaRPr lang="en-GB"/>
          </a:p>
        </p:txBody>
      </p:sp>
    </p:spTree>
    <p:extLst>
      <p:ext uri="{BB962C8B-B14F-4D97-AF65-F5344CB8AC3E}">
        <p14:creationId xmlns:p14="http://schemas.microsoft.com/office/powerpoint/2010/main" val="419632779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CFD8FE9-32E7-8B31-8642-67ACA440757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33E211DB-7F83-4F0B-90FE-F6D3BDE1CB2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EF2F9ADC-A983-0FDE-1F9E-33CF2E33E64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92E0FCA-3EEA-4B99-B2B9-7A1D3C780DF3}" type="datetime1">
              <a:rPr lang="en-GB" smtClean="0"/>
              <a:t>28/03/2025</a:t>
            </a:fld>
            <a:endParaRPr lang="en-GB"/>
          </a:p>
        </p:txBody>
      </p:sp>
      <p:sp>
        <p:nvSpPr>
          <p:cNvPr id="5" name="Footer Placeholder 4">
            <a:extLst>
              <a:ext uri="{FF2B5EF4-FFF2-40B4-BE49-F238E27FC236}">
                <a16:creationId xmlns:a16="http://schemas.microsoft.com/office/drawing/2014/main" id="{A780A7CB-1AC6-8509-6F05-16DCF71EBAC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Prepared by Dr. Fawzi Albalooshi</a:t>
            </a:r>
            <a:endParaRPr lang="en-GB"/>
          </a:p>
        </p:txBody>
      </p:sp>
      <p:sp>
        <p:nvSpPr>
          <p:cNvPr id="6" name="Slide Number Placeholder 5">
            <a:extLst>
              <a:ext uri="{FF2B5EF4-FFF2-40B4-BE49-F238E27FC236}">
                <a16:creationId xmlns:a16="http://schemas.microsoft.com/office/drawing/2014/main" id="{A3DA06D3-326B-DBDA-5A34-2A0774416A3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E92B342-1B55-4BA0-B6EF-9526E27B354D}" type="slidenum">
              <a:rPr lang="en-GB" smtClean="0"/>
              <a:t>‹#›</a:t>
            </a:fld>
            <a:endParaRPr lang="en-GB"/>
          </a:p>
        </p:txBody>
      </p:sp>
    </p:spTree>
    <p:extLst>
      <p:ext uri="{BB962C8B-B14F-4D97-AF65-F5344CB8AC3E}">
        <p14:creationId xmlns:p14="http://schemas.microsoft.com/office/powerpoint/2010/main" val="164448610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hyperlink" Target="https://youtu.be/FZR0rG3HKIk?feature=shared" TargetMode="Externa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hyperlink" Target="https://youtu.be/Kjq4vw_hMjE" TargetMode="External"/><Relationship Id="rId2" Type="http://schemas.openxmlformats.org/officeDocument/2006/relationships/hyperlink" Target="https://www.geeksforgeeks.org/what-is-infrastructure-as-code-iac/" TargetMode="Externa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hyperlink" Target="https://youtu.be/eyNBf1sqdBQ?feature=shared" TargetMode="Externa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hyperlink" Target="https://youtu.be/IeXhYROClZk" TargetMode="Externa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hyperlink" Target="https://stackoverflow.com/questions/19432586/git-dev-testing-production-environment-best-practices" TargetMode="External"/><Relationship Id="rId2" Type="http://schemas.openxmlformats.org/officeDocument/2006/relationships/hyperlink" Target="https://docs.github.com/en/actions/deployment/targeting-different-environments/using-environments-for-deployment" TargetMode="External"/><Relationship Id="rId1" Type="http://schemas.openxmlformats.org/officeDocument/2006/relationships/slideLayout" Target="../slideLayouts/slideLayout2.xml"/><Relationship Id="rId4" Type="http://schemas.openxmlformats.org/officeDocument/2006/relationships/hyperlink" Target="https://garden.io/blog/production-like-dev-environments" TargetMode="External"/></Relationships>
</file>

<file path=ppt/slides/_rels/slide20.xml.rels><?xml version="1.0" encoding="UTF-8" standalone="yes"?>
<Relationships xmlns="http://schemas.openxmlformats.org/package/2006/relationships"><Relationship Id="rId3" Type="http://schemas.openxmlformats.org/officeDocument/2006/relationships/hyperlink" Target="https://docs.github.com/en/actions/using-containerized-services/about-service-containers" TargetMode="External"/><Relationship Id="rId2" Type="http://schemas.openxmlformats.org/officeDocument/2006/relationships/hyperlink" Target="https://docs.github.com/en/packages/working-with-a-github-packages-registry/working-with-the-container-registry" TargetMode="External"/><Relationship Id="rId1" Type="http://schemas.openxmlformats.org/officeDocument/2006/relationships/slideLayout" Target="../slideLayouts/slideLayout2.xml"/><Relationship Id="rId4" Type="http://schemas.openxmlformats.org/officeDocument/2006/relationships/hyperlink" Target="https://github.blog/2020-09-01-introducing-github-container-registry/"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 name="Rectangle 17">
            <a:extLst>
              <a:ext uri="{FF2B5EF4-FFF2-40B4-BE49-F238E27FC236}">
                <a16:creationId xmlns:a16="http://schemas.microsoft.com/office/drawing/2014/main" id="{F12E7CC5-C78B-4EBD-9565-3FA00FAA6CF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Front Cover">
            <a:extLst>
              <a:ext uri="{FF2B5EF4-FFF2-40B4-BE49-F238E27FC236}">
                <a16:creationId xmlns:a16="http://schemas.microsoft.com/office/drawing/2014/main" id="{FBF69E4E-AB9E-2CC4-47F7-C137B5166C6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bwMode="auto">
          <a:xfrm>
            <a:off x="837038" y="965199"/>
            <a:ext cx="3224869" cy="4927602"/>
          </a:xfrm>
          <a:prstGeom prst="rect">
            <a:avLst/>
          </a:prstGeom>
          <a:noFill/>
        </p:spPr>
      </p:pic>
      <p:sp>
        <p:nvSpPr>
          <p:cNvPr id="24" name="Freeform: Shape 19">
            <a:extLst>
              <a:ext uri="{FF2B5EF4-FFF2-40B4-BE49-F238E27FC236}">
                <a16:creationId xmlns:a16="http://schemas.microsoft.com/office/drawing/2014/main" id="{3A4529A5-F675-429F-8044-01372BB1342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29992" y="0"/>
            <a:ext cx="7562008" cy="6858000"/>
          </a:xfrm>
          <a:custGeom>
            <a:avLst/>
            <a:gdLst>
              <a:gd name="connsiteX0" fmla="*/ 7529613 w 7529613"/>
              <a:gd name="connsiteY0" fmla="*/ 0 h 6858000"/>
              <a:gd name="connsiteX1" fmla="*/ 1222331 w 7529613"/>
              <a:gd name="connsiteY1" fmla="*/ 0 h 6858000"/>
              <a:gd name="connsiteX2" fmla="*/ 1126483 w 7529613"/>
              <a:gd name="connsiteY2" fmla="*/ 148742 h 6858000"/>
              <a:gd name="connsiteX3" fmla="*/ 767554 w 7529613"/>
              <a:gd name="connsiteY3" fmla="*/ 819975 h 6858000"/>
              <a:gd name="connsiteX4" fmla="*/ 742103 w 7529613"/>
              <a:gd name="connsiteY4" fmla="*/ 854514 h 6858000"/>
              <a:gd name="connsiteX5" fmla="*/ 785881 w 7529613"/>
              <a:gd name="connsiteY5" fmla="*/ 750263 h 6858000"/>
              <a:gd name="connsiteX6" fmla="*/ 978978 w 7529613"/>
              <a:gd name="connsiteY6" fmla="*/ 331786 h 6858000"/>
              <a:gd name="connsiteX7" fmla="*/ 1155717 w 7529613"/>
              <a:gd name="connsiteY7" fmla="*/ 0 h 6858000"/>
              <a:gd name="connsiteX8" fmla="*/ 1098249 w 7529613"/>
              <a:gd name="connsiteY8" fmla="*/ 0 h 6858000"/>
              <a:gd name="connsiteX9" fmla="*/ 991458 w 7529613"/>
              <a:gd name="connsiteY9" fmla="*/ 196614 h 6858000"/>
              <a:gd name="connsiteX10" fmla="*/ 493941 w 7529613"/>
              <a:gd name="connsiteY10" fmla="*/ 1371196 h 6858000"/>
              <a:gd name="connsiteX11" fmla="*/ 46485 w 7529613"/>
              <a:gd name="connsiteY11" fmla="*/ 3331516 h 6858000"/>
              <a:gd name="connsiteX12" fmla="*/ 12252 w 7529613"/>
              <a:gd name="connsiteY12" fmla="*/ 4357388 h 6858000"/>
              <a:gd name="connsiteX13" fmla="*/ 170821 w 7529613"/>
              <a:gd name="connsiteY13" fmla="*/ 5552906 h 6858000"/>
              <a:gd name="connsiteX14" fmla="*/ 537265 w 7529613"/>
              <a:gd name="connsiteY14" fmla="*/ 6828295 h 6858000"/>
              <a:gd name="connsiteX15" fmla="*/ 549692 w 7529613"/>
              <a:gd name="connsiteY15" fmla="*/ 6858000 h 6858000"/>
              <a:gd name="connsiteX16" fmla="*/ 602234 w 7529613"/>
              <a:gd name="connsiteY16" fmla="*/ 6858000 h 6858000"/>
              <a:gd name="connsiteX17" fmla="*/ 595414 w 7529613"/>
              <a:gd name="connsiteY17" fmla="*/ 6841549 h 6858000"/>
              <a:gd name="connsiteX18" fmla="*/ 364260 w 7529613"/>
              <a:gd name="connsiteY18" fmla="*/ 6142729 h 6858000"/>
              <a:gd name="connsiteX19" fmla="*/ 213071 w 7529613"/>
              <a:gd name="connsiteY19" fmla="*/ 5513923 h 6858000"/>
              <a:gd name="connsiteX20" fmla="*/ 211290 w 7529613"/>
              <a:gd name="connsiteY20" fmla="*/ 5480401 h 6858000"/>
              <a:gd name="connsiteX21" fmla="*/ 311446 w 7529613"/>
              <a:gd name="connsiteY21" fmla="*/ 5830359 h 6858000"/>
              <a:gd name="connsiteX22" fmla="*/ 622963 w 7529613"/>
              <a:gd name="connsiteY22" fmla="*/ 6670527 h 6858000"/>
              <a:gd name="connsiteX23" fmla="*/ 710464 w 7529613"/>
              <a:gd name="connsiteY23" fmla="*/ 6858000 h 6858000"/>
              <a:gd name="connsiteX24" fmla="*/ 7529613 w 7529613"/>
              <a:gd name="connsiteY24"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7529613" h="6858000">
                <a:moveTo>
                  <a:pt x="7529613" y="0"/>
                </a:moveTo>
                <a:lnTo>
                  <a:pt x="1222331" y="0"/>
                </a:lnTo>
                <a:lnTo>
                  <a:pt x="1126483" y="148742"/>
                </a:lnTo>
                <a:cubicBezTo>
                  <a:pt x="995323" y="365513"/>
                  <a:pt x="876174" y="589569"/>
                  <a:pt x="767554" y="819975"/>
                </a:cubicBezTo>
                <a:cubicBezTo>
                  <a:pt x="762210" y="833492"/>
                  <a:pt x="753441" y="845393"/>
                  <a:pt x="742103" y="854514"/>
                </a:cubicBezTo>
                <a:cubicBezTo>
                  <a:pt x="756737" y="819849"/>
                  <a:pt x="770991" y="784928"/>
                  <a:pt x="785881" y="750263"/>
                </a:cubicBezTo>
                <a:cubicBezTo>
                  <a:pt x="846713" y="608712"/>
                  <a:pt x="910948" y="469145"/>
                  <a:pt x="978978" y="331786"/>
                </a:cubicBezTo>
                <a:lnTo>
                  <a:pt x="1155717" y="0"/>
                </a:lnTo>
                <a:lnTo>
                  <a:pt x="1098249" y="0"/>
                </a:lnTo>
                <a:lnTo>
                  <a:pt x="991458" y="196614"/>
                </a:lnTo>
                <a:cubicBezTo>
                  <a:pt x="797017" y="573253"/>
                  <a:pt x="633548" y="966066"/>
                  <a:pt x="493941" y="1371196"/>
                </a:cubicBezTo>
                <a:cubicBezTo>
                  <a:pt x="276630" y="2007265"/>
                  <a:pt x="126659" y="2664286"/>
                  <a:pt x="46485" y="3331516"/>
                </a:cubicBezTo>
                <a:cubicBezTo>
                  <a:pt x="4488" y="3672965"/>
                  <a:pt x="-14219" y="4013908"/>
                  <a:pt x="12252" y="4357388"/>
                </a:cubicBezTo>
                <a:cubicBezTo>
                  <a:pt x="43558" y="4758899"/>
                  <a:pt x="90773" y="5157998"/>
                  <a:pt x="170821" y="5552906"/>
                </a:cubicBezTo>
                <a:cubicBezTo>
                  <a:pt x="259109" y="5988893"/>
                  <a:pt x="378967" y="6414594"/>
                  <a:pt x="537265" y="6828295"/>
                </a:cubicBezTo>
                <a:lnTo>
                  <a:pt x="549692" y="6858000"/>
                </a:lnTo>
                <a:lnTo>
                  <a:pt x="602234" y="6858000"/>
                </a:lnTo>
                <a:lnTo>
                  <a:pt x="595414" y="6841549"/>
                </a:lnTo>
                <a:cubicBezTo>
                  <a:pt x="507884" y="6614016"/>
                  <a:pt x="431296" y="6380817"/>
                  <a:pt x="364260" y="6142729"/>
                </a:cubicBezTo>
                <a:cubicBezTo>
                  <a:pt x="305974" y="5935370"/>
                  <a:pt x="262958" y="5723695"/>
                  <a:pt x="213071" y="5513923"/>
                </a:cubicBezTo>
                <a:cubicBezTo>
                  <a:pt x="211892" y="5502788"/>
                  <a:pt x="211299" y="5491601"/>
                  <a:pt x="211290" y="5480401"/>
                </a:cubicBezTo>
                <a:cubicBezTo>
                  <a:pt x="247814" y="5607635"/>
                  <a:pt x="276958" y="5719759"/>
                  <a:pt x="311446" y="5830359"/>
                </a:cubicBezTo>
                <a:cubicBezTo>
                  <a:pt x="401357" y="6118381"/>
                  <a:pt x="505060" y="6398531"/>
                  <a:pt x="622963" y="6670527"/>
                </a:cubicBezTo>
                <a:lnTo>
                  <a:pt x="710464" y="6858000"/>
                </a:lnTo>
                <a:lnTo>
                  <a:pt x="7529613" y="6858000"/>
                </a:lnTo>
                <a:close/>
              </a:path>
            </a:pathLst>
          </a:custGeom>
          <a:solidFill>
            <a:schemeClr val="accent2"/>
          </a:solidFill>
          <a:ln w="6857" cap="flat">
            <a:noFill/>
            <a:prstDash val="solid"/>
            <a:miter/>
          </a:ln>
        </p:spPr>
        <p:txBody>
          <a:bodyPr wrap="square" rtlCol="0" anchor="ctr">
            <a:noAutofit/>
          </a:bodyPr>
          <a:lstStyle/>
          <a:p>
            <a:endParaRPr lang="en-US"/>
          </a:p>
        </p:txBody>
      </p:sp>
      <p:sp>
        <p:nvSpPr>
          <p:cNvPr id="2" name="Title 1" descr="Title">
            <a:extLst>
              <a:ext uri="{FF2B5EF4-FFF2-40B4-BE49-F238E27FC236}">
                <a16:creationId xmlns:a16="http://schemas.microsoft.com/office/drawing/2014/main" id="{70D2748F-0211-B716-EA99-3969C856F2F9}"/>
              </a:ext>
            </a:extLst>
          </p:cNvPr>
          <p:cNvSpPr>
            <a:spLocks noGrp="1"/>
          </p:cNvSpPr>
          <p:nvPr>
            <p:ph type="ctrTitle"/>
          </p:nvPr>
        </p:nvSpPr>
        <p:spPr>
          <a:xfrm>
            <a:off x="5622061" y="762538"/>
            <a:ext cx="5649349" cy="3199862"/>
          </a:xfrm>
        </p:spPr>
        <p:txBody>
          <a:bodyPr anchor="b">
            <a:normAutofit/>
          </a:bodyPr>
          <a:lstStyle/>
          <a:p>
            <a:pPr algn="l">
              <a:spcAft>
                <a:spcPts val="800"/>
              </a:spcAft>
            </a:pPr>
            <a:r>
              <a:rPr lang="en-GB" sz="4000" dirty="0">
                <a:effectLst/>
                <a:latin typeface="Calibri" panose="020F0502020204030204" pitchFamily="34" charset="0"/>
                <a:ea typeface="Calibri" panose="020F0502020204030204" pitchFamily="34" charset="0"/>
                <a:cs typeface="Arial" panose="020B0604020202020204" pitchFamily="34" charset="0"/>
              </a:rPr>
              <a:t>The DevOps Handbook</a:t>
            </a:r>
            <a:br>
              <a:rPr lang="en-GB" sz="3100" dirty="0">
                <a:effectLst/>
                <a:latin typeface="Calibri" panose="020F0502020204030204" pitchFamily="34" charset="0"/>
                <a:ea typeface="Calibri" panose="020F0502020204030204" pitchFamily="34" charset="0"/>
                <a:cs typeface="Arial" panose="020B0604020202020204" pitchFamily="34" charset="0"/>
              </a:rPr>
            </a:br>
            <a:r>
              <a:rPr lang="en-GB" sz="3100" kern="100" dirty="0">
                <a:effectLst/>
                <a:latin typeface="Calibri" panose="020F0502020204030204" pitchFamily="34" charset="0"/>
                <a:ea typeface="Calibri" panose="020F0502020204030204" pitchFamily="34" charset="0"/>
                <a:cs typeface="Arial" panose="020B0604020202020204" pitchFamily="34" charset="0"/>
              </a:rPr>
              <a:t>HOW TO CREATE WORLD-CLASS AGILITY, RELIABLE, &amp; SECURITY IN TECHNOLOGY ORGANIZATIONS</a:t>
            </a:r>
            <a:br>
              <a:rPr lang="en-GB" sz="3100" kern="100" dirty="0">
                <a:effectLst/>
                <a:latin typeface="Calibri" panose="020F0502020204030204" pitchFamily="34" charset="0"/>
                <a:ea typeface="Calibri" panose="020F0502020204030204" pitchFamily="34" charset="0"/>
                <a:cs typeface="Arial" panose="020B0604020202020204" pitchFamily="34" charset="0"/>
              </a:rPr>
            </a:br>
            <a:r>
              <a:rPr lang="en-GB" sz="3100" kern="100" dirty="0">
                <a:effectLst/>
                <a:latin typeface="Calibri" panose="020F0502020204030204" pitchFamily="34" charset="0"/>
                <a:ea typeface="Calibri" panose="020F0502020204030204" pitchFamily="34" charset="0"/>
                <a:cs typeface="Arial" panose="020B0604020202020204" pitchFamily="34" charset="0"/>
              </a:rPr>
              <a:t>Gene Kim, Jez Humble, Patrick Debois, &amp; John Willis</a:t>
            </a:r>
            <a:br>
              <a:rPr lang="en-GB" sz="3100" kern="100" dirty="0">
                <a:solidFill>
                  <a:srgbClr val="FFFFFF"/>
                </a:solidFill>
                <a:effectLst/>
                <a:latin typeface="Calibri" panose="020F0502020204030204" pitchFamily="34" charset="0"/>
                <a:ea typeface="Calibri" panose="020F0502020204030204" pitchFamily="34" charset="0"/>
                <a:cs typeface="Arial" panose="020B0604020202020204" pitchFamily="34" charset="0"/>
              </a:rPr>
            </a:br>
            <a:endParaRPr lang="en-GB" sz="3100" dirty="0">
              <a:solidFill>
                <a:srgbClr val="FFFFFF"/>
              </a:solidFill>
            </a:endParaRPr>
          </a:p>
        </p:txBody>
      </p:sp>
      <p:sp>
        <p:nvSpPr>
          <p:cNvPr id="3" name="Subtitle 2" descr="Title">
            <a:extLst>
              <a:ext uri="{FF2B5EF4-FFF2-40B4-BE49-F238E27FC236}">
                <a16:creationId xmlns:a16="http://schemas.microsoft.com/office/drawing/2014/main" id="{484A1015-1F15-8EB0-88DE-050A973E6A07}"/>
              </a:ext>
            </a:extLst>
          </p:cNvPr>
          <p:cNvSpPr>
            <a:spLocks noGrp="1"/>
          </p:cNvSpPr>
          <p:nvPr>
            <p:ph type="subTitle" idx="1"/>
          </p:nvPr>
        </p:nvSpPr>
        <p:spPr>
          <a:xfrm>
            <a:off x="5264458" y="4235181"/>
            <a:ext cx="6541099" cy="2289374"/>
          </a:xfrm>
        </p:spPr>
        <p:txBody>
          <a:bodyPr anchor="t">
            <a:normAutofit lnSpcReduction="10000"/>
          </a:bodyPr>
          <a:lstStyle/>
          <a:p>
            <a:pPr algn="l">
              <a:spcAft>
                <a:spcPts val="800"/>
              </a:spcAft>
            </a:pPr>
            <a:r>
              <a:rPr lang="en-US" kern="100" dirty="0">
                <a:effectLst/>
                <a:latin typeface="Calibri" panose="020F0502020204030204" pitchFamily="34" charset="0"/>
                <a:ea typeface="Calibri" panose="020F0502020204030204" pitchFamily="34" charset="0"/>
                <a:cs typeface="Arial" panose="020B0604020202020204" pitchFamily="34" charset="0"/>
              </a:rPr>
              <a:t>Part III – The First Way: The Technical Practices of Flow </a:t>
            </a:r>
          </a:p>
          <a:p>
            <a:pPr algn="l">
              <a:spcAft>
                <a:spcPts val="800"/>
              </a:spcAft>
            </a:pPr>
            <a:r>
              <a:rPr lang="en-US" kern="100" dirty="0">
                <a:effectLst/>
                <a:latin typeface="Calibri" panose="020F0502020204030204" pitchFamily="34" charset="0"/>
                <a:ea typeface="Calibri" panose="020F0502020204030204" pitchFamily="34" charset="0"/>
                <a:cs typeface="Arial" panose="020B0604020202020204" pitchFamily="34" charset="0"/>
              </a:rPr>
              <a:t>09 Create the Foundations of Our Deployment Pipeline</a:t>
            </a:r>
          </a:p>
          <a:p>
            <a:pPr algn="l">
              <a:spcAft>
                <a:spcPts val="800"/>
              </a:spcAft>
            </a:pPr>
            <a:r>
              <a:rPr lang="en-GB" kern="100" dirty="0">
                <a:effectLst/>
                <a:latin typeface="Calibri" panose="020F0502020204030204" pitchFamily="34" charset="0"/>
                <a:ea typeface="Calibri" panose="020F0502020204030204" pitchFamily="34" charset="0"/>
                <a:cs typeface="Arial" panose="020B0604020202020204" pitchFamily="34" charset="0"/>
              </a:rPr>
              <a:t>Prepared by Dr. Fawzi Albalooshi</a:t>
            </a:r>
          </a:p>
          <a:p>
            <a:pPr algn="l">
              <a:spcAft>
                <a:spcPts val="800"/>
              </a:spcAft>
            </a:pPr>
            <a:endParaRPr lang="en-GB" kern="100" dirty="0">
              <a:effectLst/>
              <a:latin typeface="Calibri" panose="020F0502020204030204" pitchFamily="34" charset="0"/>
              <a:ea typeface="Calibri" panose="020F0502020204030204" pitchFamily="34" charset="0"/>
              <a:cs typeface="Arial" panose="020B0604020202020204" pitchFamily="34" charset="0"/>
            </a:endParaRPr>
          </a:p>
        </p:txBody>
      </p:sp>
      <p:sp>
        <p:nvSpPr>
          <p:cNvPr id="22" name="sketch line">
            <a:extLst>
              <a:ext uri="{FF2B5EF4-FFF2-40B4-BE49-F238E27FC236}">
                <a16:creationId xmlns:a16="http://schemas.microsoft.com/office/drawing/2014/main" id="{63DAB858-5A0C-4AFF-AAC6-705EDF8DB73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17682" y="4043302"/>
            <a:ext cx="5303520" cy="18288"/>
          </a:xfrm>
          <a:custGeom>
            <a:avLst/>
            <a:gdLst>
              <a:gd name="connsiteX0" fmla="*/ 0 w 5303520"/>
              <a:gd name="connsiteY0" fmla="*/ 0 h 18288"/>
              <a:gd name="connsiteX1" fmla="*/ 556870 w 5303520"/>
              <a:gd name="connsiteY1" fmla="*/ 0 h 18288"/>
              <a:gd name="connsiteX2" fmla="*/ 1272845 w 5303520"/>
              <a:gd name="connsiteY2" fmla="*/ 0 h 18288"/>
              <a:gd name="connsiteX3" fmla="*/ 1882750 w 5303520"/>
              <a:gd name="connsiteY3" fmla="*/ 0 h 18288"/>
              <a:gd name="connsiteX4" fmla="*/ 2439619 w 5303520"/>
              <a:gd name="connsiteY4" fmla="*/ 0 h 18288"/>
              <a:gd name="connsiteX5" fmla="*/ 3155594 w 5303520"/>
              <a:gd name="connsiteY5" fmla="*/ 0 h 18288"/>
              <a:gd name="connsiteX6" fmla="*/ 3818534 w 5303520"/>
              <a:gd name="connsiteY6" fmla="*/ 0 h 18288"/>
              <a:gd name="connsiteX7" fmla="*/ 4481474 w 5303520"/>
              <a:gd name="connsiteY7" fmla="*/ 0 h 18288"/>
              <a:gd name="connsiteX8" fmla="*/ 5303520 w 5303520"/>
              <a:gd name="connsiteY8" fmla="*/ 0 h 18288"/>
              <a:gd name="connsiteX9" fmla="*/ 5303520 w 5303520"/>
              <a:gd name="connsiteY9" fmla="*/ 18288 h 18288"/>
              <a:gd name="connsiteX10" fmla="*/ 4746650 w 5303520"/>
              <a:gd name="connsiteY10" fmla="*/ 18288 h 18288"/>
              <a:gd name="connsiteX11" fmla="*/ 4242816 w 5303520"/>
              <a:gd name="connsiteY11" fmla="*/ 18288 h 18288"/>
              <a:gd name="connsiteX12" fmla="*/ 3526841 w 5303520"/>
              <a:gd name="connsiteY12" fmla="*/ 18288 h 18288"/>
              <a:gd name="connsiteX13" fmla="*/ 2969971 w 5303520"/>
              <a:gd name="connsiteY13" fmla="*/ 18288 h 18288"/>
              <a:gd name="connsiteX14" fmla="*/ 2253996 w 5303520"/>
              <a:gd name="connsiteY14" fmla="*/ 18288 h 18288"/>
              <a:gd name="connsiteX15" fmla="*/ 1484986 w 5303520"/>
              <a:gd name="connsiteY15" fmla="*/ 18288 h 18288"/>
              <a:gd name="connsiteX16" fmla="*/ 875081 w 5303520"/>
              <a:gd name="connsiteY16" fmla="*/ 18288 h 18288"/>
              <a:gd name="connsiteX17" fmla="*/ 0 w 5303520"/>
              <a:gd name="connsiteY17" fmla="*/ 18288 h 18288"/>
              <a:gd name="connsiteX18" fmla="*/ 0 w 5303520"/>
              <a:gd name="connsiteY18"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303520" h="18288" fill="none" extrusionOk="0">
                <a:moveTo>
                  <a:pt x="0" y="0"/>
                </a:moveTo>
                <a:cubicBezTo>
                  <a:pt x="191807" y="-19560"/>
                  <a:pt x="373092" y="14032"/>
                  <a:pt x="556870" y="0"/>
                </a:cubicBezTo>
                <a:cubicBezTo>
                  <a:pt x="740648" y="-14032"/>
                  <a:pt x="1109645" y="5886"/>
                  <a:pt x="1272845" y="0"/>
                </a:cubicBezTo>
                <a:cubicBezTo>
                  <a:pt x="1436045" y="-5886"/>
                  <a:pt x="1723352" y="-21940"/>
                  <a:pt x="1882750" y="0"/>
                </a:cubicBezTo>
                <a:cubicBezTo>
                  <a:pt x="2042148" y="21940"/>
                  <a:pt x="2308812" y="-23394"/>
                  <a:pt x="2439619" y="0"/>
                </a:cubicBezTo>
                <a:cubicBezTo>
                  <a:pt x="2570426" y="23394"/>
                  <a:pt x="2936980" y="-3315"/>
                  <a:pt x="3155594" y="0"/>
                </a:cubicBezTo>
                <a:cubicBezTo>
                  <a:pt x="3374208" y="3315"/>
                  <a:pt x="3528026" y="24519"/>
                  <a:pt x="3818534" y="0"/>
                </a:cubicBezTo>
                <a:cubicBezTo>
                  <a:pt x="4109042" y="-24519"/>
                  <a:pt x="4161759" y="-18720"/>
                  <a:pt x="4481474" y="0"/>
                </a:cubicBezTo>
                <a:cubicBezTo>
                  <a:pt x="4801189" y="18720"/>
                  <a:pt x="5011126" y="27308"/>
                  <a:pt x="5303520" y="0"/>
                </a:cubicBezTo>
                <a:cubicBezTo>
                  <a:pt x="5304050" y="6954"/>
                  <a:pt x="5304254" y="12839"/>
                  <a:pt x="5303520" y="18288"/>
                </a:cubicBezTo>
                <a:cubicBezTo>
                  <a:pt x="5132450" y="501"/>
                  <a:pt x="4953391" y="18714"/>
                  <a:pt x="4746650" y="18288"/>
                </a:cubicBezTo>
                <a:cubicBezTo>
                  <a:pt x="4539909" y="17863"/>
                  <a:pt x="4361261" y="7168"/>
                  <a:pt x="4242816" y="18288"/>
                </a:cubicBezTo>
                <a:cubicBezTo>
                  <a:pt x="4124371" y="29408"/>
                  <a:pt x="3754907" y="21026"/>
                  <a:pt x="3526841" y="18288"/>
                </a:cubicBezTo>
                <a:cubicBezTo>
                  <a:pt x="3298775" y="15550"/>
                  <a:pt x="3164473" y="3913"/>
                  <a:pt x="2969971" y="18288"/>
                </a:cubicBezTo>
                <a:cubicBezTo>
                  <a:pt x="2775469" y="32664"/>
                  <a:pt x="2608536" y="2050"/>
                  <a:pt x="2253996" y="18288"/>
                </a:cubicBezTo>
                <a:cubicBezTo>
                  <a:pt x="1899456" y="34526"/>
                  <a:pt x="1752044" y="28789"/>
                  <a:pt x="1484986" y="18288"/>
                </a:cubicBezTo>
                <a:cubicBezTo>
                  <a:pt x="1217928" y="7788"/>
                  <a:pt x="1060609" y="-4784"/>
                  <a:pt x="875081" y="18288"/>
                </a:cubicBezTo>
                <a:cubicBezTo>
                  <a:pt x="689553" y="41360"/>
                  <a:pt x="188846" y="25228"/>
                  <a:pt x="0" y="18288"/>
                </a:cubicBezTo>
                <a:cubicBezTo>
                  <a:pt x="-570" y="9279"/>
                  <a:pt x="132" y="5100"/>
                  <a:pt x="0" y="0"/>
                </a:cubicBezTo>
                <a:close/>
              </a:path>
              <a:path w="5303520" h="18288" stroke="0" extrusionOk="0">
                <a:moveTo>
                  <a:pt x="0" y="0"/>
                </a:moveTo>
                <a:cubicBezTo>
                  <a:pt x="181149" y="2038"/>
                  <a:pt x="442175" y="-27591"/>
                  <a:pt x="609905" y="0"/>
                </a:cubicBezTo>
                <a:cubicBezTo>
                  <a:pt x="777636" y="27591"/>
                  <a:pt x="947554" y="-24271"/>
                  <a:pt x="1113739" y="0"/>
                </a:cubicBezTo>
                <a:cubicBezTo>
                  <a:pt x="1279924" y="24271"/>
                  <a:pt x="1721318" y="-30891"/>
                  <a:pt x="1882750" y="0"/>
                </a:cubicBezTo>
                <a:cubicBezTo>
                  <a:pt x="2044182" y="30891"/>
                  <a:pt x="2270822" y="-14002"/>
                  <a:pt x="2492654" y="0"/>
                </a:cubicBezTo>
                <a:cubicBezTo>
                  <a:pt x="2714486" y="14002"/>
                  <a:pt x="2822632" y="27292"/>
                  <a:pt x="3102559" y="0"/>
                </a:cubicBezTo>
                <a:cubicBezTo>
                  <a:pt x="3382487" y="-27292"/>
                  <a:pt x="3489743" y="-31235"/>
                  <a:pt x="3871570" y="0"/>
                </a:cubicBezTo>
                <a:cubicBezTo>
                  <a:pt x="4253397" y="31235"/>
                  <a:pt x="4301475" y="22800"/>
                  <a:pt x="4428439" y="0"/>
                </a:cubicBezTo>
                <a:cubicBezTo>
                  <a:pt x="4555403" y="-22800"/>
                  <a:pt x="5018410" y="43534"/>
                  <a:pt x="5303520" y="0"/>
                </a:cubicBezTo>
                <a:cubicBezTo>
                  <a:pt x="5302837" y="5414"/>
                  <a:pt x="5302800" y="12510"/>
                  <a:pt x="5303520" y="18288"/>
                </a:cubicBezTo>
                <a:cubicBezTo>
                  <a:pt x="5082751" y="18456"/>
                  <a:pt x="4993374" y="24100"/>
                  <a:pt x="4746650" y="18288"/>
                </a:cubicBezTo>
                <a:cubicBezTo>
                  <a:pt x="4499926" y="12477"/>
                  <a:pt x="4368648" y="-7187"/>
                  <a:pt x="4083710" y="18288"/>
                </a:cubicBezTo>
                <a:cubicBezTo>
                  <a:pt x="3798772" y="43763"/>
                  <a:pt x="3729434" y="5501"/>
                  <a:pt x="3473806" y="18288"/>
                </a:cubicBezTo>
                <a:cubicBezTo>
                  <a:pt x="3218178" y="31075"/>
                  <a:pt x="3056855" y="30003"/>
                  <a:pt x="2704795" y="18288"/>
                </a:cubicBezTo>
                <a:cubicBezTo>
                  <a:pt x="2352735" y="6573"/>
                  <a:pt x="2319447" y="29257"/>
                  <a:pt x="1935785" y="18288"/>
                </a:cubicBezTo>
                <a:cubicBezTo>
                  <a:pt x="1552123" y="7320"/>
                  <a:pt x="1532619" y="-467"/>
                  <a:pt x="1378915" y="18288"/>
                </a:cubicBezTo>
                <a:cubicBezTo>
                  <a:pt x="1225211" y="37043"/>
                  <a:pt x="1038692" y="34308"/>
                  <a:pt x="715975" y="18288"/>
                </a:cubicBezTo>
                <a:cubicBezTo>
                  <a:pt x="393258" y="2268"/>
                  <a:pt x="303768" y="26944"/>
                  <a:pt x="0" y="18288"/>
                </a:cubicBezTo>
                <a:cubicBezTo>
                  <a:pt x="-306" y="11061"/>
                  <a:pt x="-655" y="7751"/>
                  <a:pt x="0" y="0"/>
                </a:cubicBezTo>
                <a:close/>
              </a:path>
            </a:pathLst>
          </a:custGeom>
          <a:solidFill>
            <a:srgbClr val="FFFFFF"/>
          </a:solidFill>
          <a:ln w="41275" cap="rnd">
            <a:solidFill>
              <a:srgbClr val="FFFFFF"/>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71234501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AAD58D6-CBEA-E5D2-D2D1-1CE1AA118126}"/>
              </a:ext>
            </a:extLst>
          </p:cNvPr>
          <p:cNvSpPr>
            <a:spLocks noGrp="1"/>
          </p:cNvSpPr>
          <p:nvPr>
            <p:ph type="title"/>
          </p:nvPr>
        </p:nvSpPr>
        <p:spPr>
          <a:xfrm>
            <a:off x="838200" y="365125"/>
            <a:ext cx="10515600" cy="1325563"/>
          </a:xfrm>
        </p:spPr>
        <p:txBody>
          <a:bodyPr>
            <a:normAutofit/>
          </a:bodyPr>
          <a:lstStyle/>
          <a:p>
            <a:r>
              <a:rPr lang="en-GB" sz="4800" b="1" dirty="0">
                <a:latin typeface="Calibri" panose="020F0502020204030204" pitchFamily="34" charset="0"/>
                <a:ea typeface="Calibri" panose="020F0502020204030204" pitchFamily="34" charset="0"/>
                <a:cs typeface="Arial" panose="020B0604020202020204" pitchFamily="34" charset="0"/>
              </a:rPr>
              <a:t>Introduction</a:t>
            </a:r>
            <a:endParaRPr lang="en-GB" sz="4800" dirty="0"/>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FCEBFACB-F44F-8D19-CBD8-18786C9D4A82}"/>
              </a:ext>
            </a:extLst>
          </p:cNvPr>
          <p:cNvSpPr>
            <a:spLocks noGrp="1"/>
          </p:cNvSpPr>
          <p:nvPr>
            <p:ph idx="1"/>
          </p:nvPr>
        </p:nvSpPr>
        <p:spPr>
          <a:xfrm>
            <a:off x="499871" y="1745551"/>
            <a:ext cx="11266143" cy="4747323"/>
          </a:xfrm>
        </p:spPr>
        <p:txBody>
          <a:bodyPr>
            <a:normAutofit fontScale="92500" lnSpcReduction="10000"/>
          </a:bodyPr>
          <a:lstStyle/>
          <a:p>
            <a:pPr indent="0" algn="just">
              <a:spcAft>
                <a:spcPts val="800"/>
              </a:spcAft>
              <a:buNone/>
            </a:pPr>
            <a:r>
              <a:rPr lang="en-US" sz="3600" kern="100" dirty="0">
                <a:effectLst/>
                <a:latin typeface="Calibri" panose="020F0502020204030204" pitchFamily="34" charset="0"/>
                <a:ea typeface="Calibri" panose="020F0502020204030204" pitchFamily="34" charset="0"/>
                <a:cs typeface="Arial" panose="020B0604020202020204" pitchFamily="34" charset="0"/>
              </a:rPr>
              <a:t>In this chapter, the author discusses how:</a:t>
            </a:r>
          </a:p>
          <a:p>
            <a:pPr marL="800100" indent="-571500" algn="just">
              <a:spcAft>
                <a:spcPts val="800"/>
              </a:spcAft>
            </a:pPr>
            <a:r>
              <a:rPr lang="en-US" sz="3600" kern="100" dirty="0">
                <a:effectLst/>
                <a:latin typeface="Calibri" panose="020F0502020204030204" pitchFamily="34" charset="0"/>
                <a:ea typeface="Calibri" panose="020F0502020204030204" pitchFamily="34" charset="0"/>
                <a:cs typeface="Arial" panose="020B0604020202020204" pitchFamily="34" charset="0"/>
              </a:rPr>
              <a:t>to build the mechanisms that will enable us to create environments on demand; </a:t>
            </a:r>
          </a:p>
          <a:p>
            <a:pPr marL="800100" indent="-571500" algn="just">
              <a:spcAft>
                <a:spcPts val="800"/>
              </a:spcAft>
            </a:pPr>
            <a:r>
              <a:rPr lang="en-US" sz="3600" kern="100" dirty="0">
                <a:effectLst/>
                <a:latin typeface="Calibri" panose="020F0502020204030204" pitchFamily="34" charset="0"/>
                <a:ea typeface="Calibri" panose="020F0502020204030204" pitchFamily="34" charset="0"/>
                <a:cs typeface="Arial" panose="020B0604020202020204" pitchFamily="34" charset="0"/>
              </a:rPr>
              <a:t>expand the use of version control to everyone in the value stream; </a:t>
            </a:r>
          </a:p>
          <a:p>
            <a:pPr marL="800100" indent="-571500" algn="just">
              <a:spcAft>
                <a:spcPts val="800"/>
              </a:spcAft>
            </a:pPr>
            <a:r>
              <a:rPr lang="en-US" sz="3600" kern="100" dirty="0">
                <a:effectLst/>
                <a:latin typeface="Calibri" panose="020F0502020204030204" pitchFamily="34" charset="0"/>
                <a:ea typeface="Calibri" panose="020F0502020204030204" pitchFamily="34" charset="0"/>
                <a:cs typeface="Arial" panose="020B0604020202020204" pitchFamily="34" charset="0"/>
              </a:rPr>
              <a:t>make infrastructure easier to rebuild than repair; </a:t>
            </a:r>
          </a:p>
          <a:p>
            <a:pPr marL="800100" indent="-571500" algn="just">
              <a:spcAft>
                <a:spcPts val="800"/>
              </a:spcAft>
            </a:pPr>
            <a:r>
              <a:rPr lang="en-US" sz="3600" kern="100" dirty="0">
                <a:effectLst/>
                <a:latin typeface="Calibri" panose="020F0502020204030204" pitchFamily="34" charset="0"/>
                <a:ea typeface="Calibri" panose="020F0502020204030204" pitchFamily="34" charset="0"/>
                <a:cs typeface="Arial" panose="020B0604020202020204" pitchFamily="34" charset="0"/>
              </a:rPr>
              <a:t>and ensure that developers run their code in production-like environments along every stage of the software development life cycle.</a:t>
            </a:r>
            <a:endParaRPr lang="en-GB" sz="3600" dirty="0"/>
          </a:p>
        </p:txBody>
      </p:sp>
      <p:sp>
        <p:nvSpPr>
          <p:cNvPr id="4" name="Footer Placeholder 3">
            <a:extLst>
              <a:ext uri="{FF2B5EF4-FFF2-40B4-BE49-F238E27FC236}">
                <a16:creationId xmlns:a16="http://schemas.microsoft.com/office/drawing/2014/main" id="{5182FEA2-8BD5-AEA0-694B-BABFB26AF90E}"/>
              </a:ext>
            </a:extLst>
          </p:cNvPr>
          <p:cNvSpPr>
            <a:spLocks noGrp="1"/>
          </p:cNvSpPr>
          <p:nvPr>
            <p:ph type="ftr" sz="quarter" idx="11"/>
          </p:nvPr>
        </p:nvSpPr>
        <p:spPr/>
        <p:txBody>
          <a:bodyPr/>
          <a:lstStyle/>
          <a:p>
            <a:r>
              <a:rPr lang="en-US" dirty="0">
                <a:solidFill>
                  <a:schemeClr val="tx1"/>
                </a:solidFill>
              </a:rPr>
              <a:t>Prepared by Dr. Fawzi Albalooshi</a:t>
            </a:r>
            <a:endParaRPr lang="en-GB" dirty="0">
              <a:solidFill>
                <a:schemeClr val="tx1"/>
              </a:solidFill>
            </a:endParaRPr>
          </a:p>
        </p:txBody>
      </p:sp>
    </p:spTree>
    <p:extLst>
      <p:ext uri="{BB962C8B-B14F-4D97-AF65-F5344CB8AC3E}">
        <p14:creationId xmlns:p14="http://schemas.microsoft.com/office/powerpoint/2010/main" val="24768751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2B1CF96-3DBD-2C1C-C3AA-E40AEF9DAABA}"/>
              </a:ext>
            </a:extLst>
          </p:cNvPr>
          <p:cNvSpPr>
            <a:spLocks noGrp="1"/>
          </p:cNvSpPr>
          <p:nvPr>
            <p:ph type="title"/>
          </p:nvPr>
        </p:nvSpPr>
        <p:spPr>
          <a:xfrm>
            <a:off x="838200" y="365125"/>
            <a:ext cx="10515600" cy="1325563"/>
          </a:xfrm>
        </p:spPr>
        <p:txBody>
          <a:bodyPr>
            <a:normAutofit fontScale="90000"/>
          </a:bodyPr>
          <a:lstStyle/>
          <a:p>
            <a:r>
              <a:rPr lang="en-US" sz="4800" b="1" dirty="0">
                <a:latin typeface="Calibri" panose="020F0502020204030204" pitchFamily="34" charset="0"/>
                <a:ea typeface="Calibri" panose="020F0502020204030204" pitchFamily="34" charset="0"/>
                <a:cs typeface="Arial" panose="020B0604020202020204" pitchFamily="34" charset="0"/>
              </a:rPr>
              <a:t>Enable On-demand Creation of Dev, Test, and Production Environments </a:t>
            </a:r>
            <a:endParaRPr lang="en-GB" sz="4800" b="1" dirty="0">
              <a:latin typeface="Calibri" panose="020F0502020204030204" pitchFamily="34" charset="0"/>
              <a:ea typeface="Calibri" panose="020F0502020204030204" pitchFamily="34" charset="0"/>
              <a:cs typeface="Arial" panose="020B0604020202020204" pitchFamily="34" charset="0"/>
            </a:endParaRPr>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C0A0DA03-8DCB-6C12-0FDB-B85BAA7CAAC3}"/>
              </a:ext>
            </a:extLst>
          </p:cNvPr>
          <p:cNvSpPr>
            <a:spLocks noGrp="1"/>
          </p:cNvSpPr>
          <p:nvPr>
            <p:ph idx="1"/>
          </p:nvPr>
        </p:nvSpPr>
        <p:spPr>
          <a:xfrm>
            <a:off x="669036" y="1896726"/>
            <a:ext cx="10684764" cy="4577860"/>
          </a:xfrm>
        </p:spPr>
        <p:txBody>
          <a:bodyPr>
            <a:normAutofit fontScale="92500" lnSpcReduction="10000"/>
          </a:bodyPr>
          <a:lstStyle/>
          <a:p>
            <a:pPr marR="0" indent="0" algn="just">
              <a:lnSpc>
                <a:spcPct val="107000"/>
              </a:lnSpc>
              <a:spcBef>
                <a:spcPts val="0"/>
              </a:spcBef>
              <a:spcAft>
                <a:spcPts val="800"/>
              </a:spcAft>
              <a:buNone/>
            </a:pPr>
            <a:r>
              <a:rPr lang="en-GB" sz="2400" kern="100" dirty="0">
                <a:effectLst/>
                <a:latin typeface="Calibri" panose="020F0502020204030204" pitchFamily="34" charset="0"/>
                <a:ea typeface="Calibri" panose="020F0502020204030204" pitchFamily="34" charset="0"/>
                <a:cs typeface="Arial" panose="020B0604020202020204" pitchFamily="34" charset="0"/>
              </a:rPr>
              <a:t>In this step, </a:t>
            </a:r>
            <a:r>
              <a:rPr lang="en-GB" sz="2400" u="sng" kern="100" dirty="0">
                <a:effectLst/>
                <a:latin typeface="Calibri" panose="020F0502020204030204" pitchFamily="34" charset="0"/>
                <a:ea typeface="Calibri" panose="020F0502020204030204" pitchFamily="34" charset="0"/>
                <a:cs typeface="Arial" panose="020B0604020202020204" pitchFamily="34" charset="0"/>
              </a:rPr>
              <a:t>we want developers to run production-like environments on their own workstations</a:t>
            </a:r>
            <a:r>
              <a:rPr lang="en-GB" sz="2400" kern="100" dirty="0">
                <a:effectLst/>
                <a:latin typeface="Calibri" panose="020F0502020204030204" pitchFamily="34" charset="0"/>
                <a:ea typeface="Calibri" panose="020F0502020204030204" pitchFamily="34" charset="0"/>
                <a:cs typeface="Arial" panose="020B0604020202020204" pitchFamily="34" charset="0"/>
              </a:rPr>
              <a:t>, created on demand and self-serviced. </a:t>
            </a:r>
          </a:p>
          <a:p>
            <a:pPr marR="0" indent="0" algn="just">
              <a:lnSpc>
                <a:spcPct val="107000"/>
              </a:lnSpc>
              <a:spcBef>
                <a:spcPts val="0"/>
              </a:spcBef>
              <a:spcAft>
                <a:spcPts val="800"/>
              </a:spcAft>
              <a:buNone/>
            </a:pPr>
            <a:r>
              <a:rPr lang="en-US" sz="2400" kern="100" dirty="0">
                <a:effectLst/>
                <a:latin typeface="Calibri" panose="020F0502020204030204" pitchFamily="34" charset="0"/>
                <a:ea typeface="Calibri" panose="020F0502020204030204" pitchFamily="34" charset="0"/>
                <a:cs typeface="Arial" panose="020B0604020202020204" pitchFamily="34" charset="0"/>
              </a:rPr>
              <a:t>A </a:t>
            </a:r>
            <a:r>
              <a:rPr lang="en-US" sz="2400" b="1" kern="100" dirty="0">
                <a:effectLst/>
                <a:latin typeface="Calibri" panose="020F0502020204030204" pitchFamily="34" charset="0"/>
                <a:ea typeface="Calibri" panose="020F0502020204030204" pitchFamily="34" charset="0"/>
                <a:cs typeface="Arial" panose="020B0604020202020204" pitchFamily="34" charset="0"/>
              </a:rPr>
              <a:t>production-like environment </a:t>
            </a:r>
            <a:r>
              <a:rPr lang="en-US" sz="2400" kern="100" dirty="0">
                <a:effectLst/>
                <a:latin typeface="Calibri" panose="020F0502020204030204" pitchFamily="34" charset="0"/>
                <a:ea typeface="Calibri" panose="020F0502020204030204" pitchFamily="34" charset="0"/>
                <a:cs typeface="Arial" panose="020B0604020202020204" pitchFamily="34" charset="0"/>
              </a:rPr>
              <a:t>is a term used in software development to describe an environment that closely mirrors the production environment. This could be a staging, testing, or development environment that has been configured to replicate the conditions of the production environment as closely as possible.</a:t>
            </a:r>
            <a:endParaRPr lang="en-GB" sz="2400" kern="100" dirty="0">
              <a:effectLst/>
              <a:latin typeface="Calibri" panose="020F0502020204030204" pitchFamily="34" charset="0"/>
              <a:ea typeface="Calibri" panose="020F0502020204030204" pitchFamily="34" charset="0"/>
              <a:cs typeface="Arial" panose="020B0604020202020204" pitchFamily="34" charset="0"/>
            </a:endParaRPr>
          </a:p>
          <a:p>
            <a:pPr marR="0" indent="0" algn="just">
              <a:lnSpc>
                <a:spcPct val="107000"/>
              </a:lnSpc>
              <a:spcBef>
                <a:spcPts val="0"/>
              </a:spcBef>
              <a:spcAft>
                <a:spcPts val="800"/>
              </a:spcAft>
              <a:buNone/>
            </a:pPr>
            <a:r>
              <a:rPr lang="en-US" sz="2400" kern="100" dirty="0">
                <a:effectLst/>
                <a:latin typeface="Calibri" panose="020F0502020204030204" pitchFamily="34" charset="0"/>
                <a:ea typeface="Calibri" panose="020F0502020204030204" pitchFamily="34" charset="0"/>
                <a:cs typeface="Arial" panose="020B0604020202020204" pitchFamily="34" charset="0"/>
              </a:rPr>
              <a:t>The </a:t>
            </a:r>
            <a:r>
              <a:rPr lang="en-US" sz="2400" b="1" kern="100" dirty="0">
                <a:effectLst/>
                <a:latin typeface="Calibri" panose="020F0502020204030204" pitchFamily="34" charset="0"/>
                <a:ea typeface="Calibri" panose="020F0502020204030204" pitchFamily="34" charset="0"/>
                <a:cs typeface="Arial" panose="020B0604020202020204" pitchFamily="34" charset="0"/>
              </a:rPr>
              <a:t>purpose of a production-like environment </a:t>
            </a:r>
            <a:r>
              <a:rPr lang="en-US" sz="2400" kern="100" dirty="0">
                <a:effectLst/>
                <a:latin typeface="Calibri" panose="020F0502020204030204" pitchFamily="34" charset="0"/>
                <a:ea typeface="Calibri" panose="020F0502020204030204" pitchFamily="34" charset="0"/>
                <a:cs typeface="Arial" panose="020B0604020202020204" pitchFamily="34" charset="0"/>
              </a:rPr>
              <a:t>is to catch any issues or bugs that might not have been evident in the development or testing environments. It allows developers to validate their code under conditions that simulate the live production environment before the code is deployed.</a:t>
            </a:r>
            <a:r>
              <a:rPr lang="en-GB" sz="2400" kern="100" dirty="0">
                <a:latin typeface="Calibri" panose="020F0502020204030204" pitchFamily="34" charset="0"/>
                <a:ea typeface="Calibri" panose="020F0502020204030204" pitchFamily="34" charset="0"/>
                <a:cs typeface="Arial" panose="020B0604020202020204" pitchFamily="34" charset="0"/>
              </a:rPr>
              <a:t> D</a:t>
            </a:r>
            <a:r>
              <a:rPr lang="en-GB" sz="2400" kern="100" dirty="0">
                <a:effectLst/>
                <a:latin typeface="Calibri" panose="020F0502020204030204" pitchFamily="34" charset="0"/>
                <a:ea typeface="Calibri" panose="020F0502020204030204" pitchFamily="34" charset="0"/>
                <a:cs typeface="Arial" panose="020B0604020202020204" pitchFamily="34" charset="0"/>
              </a:rPr>
              <a:t>evelopers can run and test their code in production-like environments as part of their daily work, providing early and constant feedback on the quality of their work.</a:t>
            </a:r>
          </a:p>
          <a:p>
            <a:pPr marL="0" indent="0" algn="just">
              <a:buNone/>
            </a:pPr>
            <a:endParaRPr lang="en-GB" sz="2200" dirty="0"/>
          </a:p>
        </p:txBody>
      </p:sp>
      <p:sp>
        <p:nvSpPr>
          <p:cNvPr id="4" name="Footer Placeholder 3">
            <a:extLst>
              <a:ext uri="{FF2B5EF4-FFF2-40B4-BE49-F238E27FC236}">
                <a16:creationId xmlns:a16="http://schemas.microsoft.com/office/drawing/2014/main" id="{3D804FF1-26A5-7866-E958-FBAC46516978}"/>
              </a:ext>
            </a:extLst>
          </p:cNvPr>
          <p:cNvSpPr>
            <a:spLocks noGrp="1"/>
          </p:cNvSpPr>
          <p:nvPr>
            <p:ph type="ftr" sz="quarter" idx="11"/>
          </p:nvPr>
        </p:nvSpPr>
        <p:spPr/>
        <p:txBody>
          <a:bodyPr/>
          <a:lstStyle/>
          <a:p>
            <a:r>
              <a:rPr lang="en-US" dirty="0">
                <a:solidFill>
                  <a:schemeClr val="tx1"/>
                </a:solidFill>
              </a:rPr>
              <a:t>Prepared by Dr. Fawzi Albalooshi</a:t>
            </a:r>
            <a:endParaRPr lang="en-GB" dirty="0">
              <a:solidFill>
                <a:schemeClr val="tx1"/>
              </a:solidFill>
            </a:endParaRPr>
          </a:p>
        </p:txBody>
      </p:sp>
    </p:spTree>
    <p:extLst>
      <p:ext uri="{BB962C8B-B14F-4D97-AF65-F5344CB8AC3E}">
        <p14:creationId xmlns:p14="http://schemas.microsoft.com/office/powerpoint/2010/main" val="372504758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AAFA3F0-CD77-1BEB-EC7E-DD638D75165E}"/>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BD32777-B30D-2431-B4CA-CFA489225E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33F1F09-F2A2-78BE-3A3D-053F3ECF6ABB}"/>
              </a:ext>
            </a:extLst>
          </p:cNvPr>
          <p:cNvSpPr>
            <a:spLocks noGrp="1"/>
          </p:cNvSpPr>
          <p:nvPr>
            <p:ph type="title"/>
          </p:nvPr>
        </p:nvSpPr>
        <p:spPr>
          <a:xfrm>
            <a:off x="838200" y="365125"/>
            <a:ext cx="10515600" cy="1325563"/>
          </a:xfrm>
        </p:spPr>
        <p:txBody>
          <a:bodyPr>
            <a:normAutofit fontScale="90000"/>
          </a:bodyPr>
          <a:lstStyle/>
          <a:p>
            <a:r>
              <a:rPr lang="en-US" sz="4800" b="1" dirty="0">
                <a:latin typeface="Calibri" panose="020F0502020204030204" pitchFamily="34" charset="0"/>
                <a:ea typeface="Calibri" panose="020F0502020204030204" pitchFamily="34" charset="0"/>
                <a:cs typeface="Arial" panose="020B0604020202020204" pitchFamily="34" charset="0"/>
              </a:rPr>
              <a:t>Enable On-demand Creation of Dev, Test, and Production Environments </a:t>
            </a:r>
            <a:endParaRPr lang="en-GB" sz="4800" b="1" dirty="0">
              <a:latin typeface="Calibri" panose="020F0502020204030204" pitchFamily="34" charset="0"/>
              <a:ea typeface="Calibri" panose="020F0502020204030204" pitchFamily="34" charset="0"/>
              <a:cs typeface="Arial" panose="020B0604020202020204" pitchFamily="34" charset="0"/>
            </a:endParaRPr>
          </a:p>
        </p:txBody>
      </p:sp>
      <p:sp>
        <p:nvSpPr>
          <p:cNvPr id="10" name="sketch line">
            <a:extLst>
              <a:ext uri="{FF2B5EF4-FFF2-40B4-BE49-F238E27FC236}">
                <a16:creationId xmlns:a16="http://schemas.microsoft.com/office/drawing/2014/main" id="{5FEA173D-1F28-1F7B-4A9A-C1EA5167531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45C0442D-607E-8668-F9FF-EAFB2F14CB84}"/>
              </a:ext>
            </a:extLst>
          </p:cNvPr>
          <p:cNvSpPr>
            <a:spLocks noGrp="1"/>
          </p:cNvSpPr>
          <p:nvPr>
            <p:ph idx="1"/>
          </p:nvPr>
        </p:nvSpPr>
        <p:spPr>
          <a:xfrm>
            <a:off x="669036" y="1896726"/>
            <a:ext cx="10684764" cy="4577860"/>
          </a:xfrm>
        </p:spPr>
        <p:txBody>
          <a:bodyPr>
            <a:normAutofit/>
          </a:bodyPr>
          <a:lstStyle/>
          <a:p>
            <a:pPr marR="0" indent="0" algn="just">
              <a:lnSpc>
                <a:spcPct val="107000"/>
              </a:lnSpc>
              <a:spcBef>
                <a:spcPts val="0"/>
              </a:spcBef>
              <a:spcAft>
                <a:spcPts val="800"/>
              </a:spcAft>
              <a:buNone/>
            </a:pPr>
            <a:endParaRPr lang="en-GB" sz="2400" kern="100" dirty="0">
              <a:effectLst/>
              <a:latin typeface="Calibri" panose="020F0502020204030204" pitchFamily="34" charset="0"/>
              <a:ea typeface="Calibri" panose="020F0502020204030204" pitchFamily="34" charset="0"/>
              <a:cs typeface="Arial" panose="020B0604020202020204" pitchFamily="34" charset="0"/>
            </a:endParaRPr>
          </a:p>
          <a:p>
            <a:pPr marL="0" indent="0" algn="just">
              <a:buNone/>
            </a:pPr>
            <a:endParaRPr lang="en-GB" sz="2200" dirty="0"/>
          </a:p>
        </p:txBody>
      </p:sp>
      <p:sp>
        <p:nvSpPr>
          <p:cNvPr id="4" name="TextBox 3">
            <a:extLst>
              <a:ext uri="{FF2B5EF4-FFF2-40B4-BE49-F238E27FC236}">
                <a16:creationId xmlns:a16="http://schemas.microsoft.com/office/drawing/2014/main" id="{124B04B1-C710-2DDD-C4D7-432C1F53EBB5}"/>
              </a:ext>
            </a:extLst>
          </p:cNvPr>
          <p:cNvSpPr txBox="1"/>
          <p:nvPr/>
        </p:nvSpPr>
        <p:spPr>
          <a:xfrm>
            <a:off x="542163" y="1779687"/>
            <a:ext cx="10938510" cy="5078313"/>
          </a:xfrm>
          <a:prstGeom prst="rect">
            <a:avLst/>
          </a:prstGeom>
          <a:noFill/>
        </p:spPr>
        <p:txBody>
          <a:bodyPr wrap="square" rtlCol="0">
            <a:spAutoFit/>
          </a:bodyPr>
          <a:lstStyle/>
          <a:p>
            <a:r>
              <a:rPr lang="en-US" dirty="0"/>
              <a:t>Here are some </a:t>
            </a:r>
            <a:r>
              <a:rPr lang="en-US" u="sng" dirty="0"/>
              <a:t>examples of production-like environments</a:t>
            </a:r>
            <a:r>
              <a:rPr lang="en-US" dirty="0"/>
              <a:t>:</a:t>
            </a:r>
          </a:p>
          <a:p>
            <a:endParaRPr lang="en-US" dirty="0"/>
          </a:p>
          <a:p>
            <a:r>
              <a:rPr lang="en-US" dirty="0"/>
              <a:t>Staging/ Pre-Production Environment: This is a common production-like environment where the final version of the 	application is deployed for final testing. It mirrors the production environment in terms of hardware, 	software, and network configurations.</a:t>
            </a:r>
          </a:p>
          <a:p>
            <a:pPr marL="285750" indent="-285750">
              <a:buFont typeface="Arial" panose="020B0604020202020204" pitchFamily="34" charset="0"/>
              <a:buChar char="•"/>
            </a:pPr>
            <a:endParaRPr lang="en-US" dirty="0"/>
          </a:p>
          <a:p>
            <a:r>
              <a:rPr lang="en-US" dirty="0"/>
              <a:t>User Acceptance Testing (UAT) Environment: This environment is used by end-users to validate the functionality and 	performance of the application before it goes live. It replicates the production environment to ensure 	users have a realistic experience.</a:t>
            </a:r>
          </a:p>
          <a:p>
            <a:pPr marL="285750" indent="-285750">
              <a:buFont typeface="Arial" panose="020B0604020202020204" pitchFamily="34" charset="0"/>
              <a:buChar char="•"/>
            </a:pPr>
            <a:endParaRPr lang="en-US" dirty="0"/>
          </a:p>
          <a:p>
            <a:r>
              <a:rPr lang="en-US" dirty="0"/>
              <a:t>Performance Testing Environment: This setup is used to test the application's performance under various load 	conditions. It mimics the production environment to identify any performance bottlenecks or issues.</a:t>
            </a:r>
          </a:p>
          <a:p>
            <a:pPr marL="285750" indent="-285750">
              <a:buFont typeface="Arial" panose="020B0604020202020204" pitchFamily="34" charset="0"/>
              <a:buChar char="•"/>
            </a:pPr>
            <a:endParaRPr lang="en-US" dirty="0"/>
          </a:p>
          <a:p>
            <a:r>
              <a:rPr lang="en-US" dirty="0"/>
              <a:t>Disaster Recovery Environment: This environment is used to test the application's ability to recover from failures. It 	replicates the production environment to ensure that disaster recovery plans are effective.</a:t>
            </a:r>
          </a:p>
          <a:p>
            <a:pPr marL="285750" indent="-285750">
              <a:buFont typeface="Arial" panose="020B0604020202020204" pitchFamily="34" charset="0"/>
              <a:buChar char="•"/>
            </a:pPr>
            <a:endParaRPr lang="en-US" dirty="0"/>
          </a:p>
          <a:p>
            <a:r>
              <a:rPr lang="en-US" dirty="0"/>
              <a:t>These environments help in identifying and fixing issues before the application is deployed to production, reducing 	the risk of failures and ensuring a smooth user experience.</a:t>
            </a:r>
          </a:p>
        </p:txBody>
      </p:sp>
    </p:spTree>
    <p:extLst>
      <p:ext uri="{BB962C8B-B14F-4D97-AF65-F5344CB8AC3E}">
        <p14:creationId xmlns:p14="http://schemas.microsoft.com/office/powerpoint/2010/main" val="137026193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836FE22-B6BB-F785-1C97-D67DD36C4E8B}"/>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7C7A3CF7-53BB-344D-2346-465A4F20AB4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59C471A-D7A2-9029-0C2B-C8D42461DB39}"/>
              </a:ext>
            </a:extLst>
          </p:cNvPr>
          <p:cNvSpPr>
            <a:spLocks noGrp="1"/>
          </p:cNvSpPr>
          <p:nvPr>
            <p:ph type="title"/>
          </p:nvPr>
        </p:nvSpPr>
        <p:spPr>
          <a:xfrm>
            <a:off x="838200" y="365125"/>
            <a:ext cx="10515600" cy="1325563"/>
          </a:xfrm>
        </p:spPr>
        <p:txBody>
          <a:bodyPr>
            <a:normAutofit fontScale="90000"/>
          </a:bodyPr>
          <a:lstStyle/>
          <a:p>
            <a:r>
              <a:rPr lang="en-US" sz="4800" b="1" dirty="0">
                <a:latin typeface="Calibri" panose="020F0502020204030204" pitchFamily="34" charset="0"/>
                <a:ea typeface="Calibri" panose="020F0502020204030204" pitchFamily="34" charset="0"/>
                <a:cs typeface="Arial" panose="020B0604020202020204" pitchFamily="34" charset="0"/>
              </a:rPr>
              <a:t>Enable On-demand Creation of Dev, Test, and Production Environments </a:t>
            </a:r>
            <a:endParaRPr lang="en-GB" sz="4800" b="1" dirty="0">
              <a:latin typeface="Calibri" panose="020F0502020204030204" pitchFamily="34" charset="0"/>
              <a:ea typeface="Calibri" panose="020F0502020204030204" pitchFamily="34" charset="0"/>
              <a:cs typeface="Arial" panose="020B0604020202020204" pitchFamily="34" charset="0"/>
            </a:endParaRPr>
          </a:p>
        </p:txBody>
      </p:sp>
      <p:sp>
        <p:nvSpPr>
          <p:cNvPr id="10" name="sketch line">
            <a:extLst>
              <a:ext uri="{FF2B5EF4-FFF2-40B4-BE49-F238E27FC236}">
                <a16:creationId xmlns:a16="http://schemas.microsoft.com/office/drawing/2014/main" id="{F9E89DF7-49F9-51DC-51BC-64CFDB8BBF2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9C25A9A5-1097-71B6-BDC1-7F5F0C502608}"/>
              </a:ext>
            </a:extLst>
          </p:cNvPr>
          <p:cNvSpPr>
            <a:spLocks noGrp="1"/>
          </p:cNvSpPr>
          <p:nvPr>
            <p:ph idx="1"/>
          </p:nvPr>
        </p:nvSpPr>
        <p:spPr>
          <a:xfrm>
            <a:off x="337351" y="1836992"/>
            <a:ext cx="11185614" cy="4655883"/>
          </a:xfrm>
        </p:spPr>
        <p:txBody>
          <a:bodyPr>
            <a:normAutofit lnSpcReduction="10000"/>
          </a:bodyPr>
          <a:lstStyle/>
          <a:p>
            <a:pPr marR="0" indent="0" algn="just">
              <a:lnSpc>
                <a:spcPct val="107000"/>
              </a:lnSpc>
              <a:spcBef>
                <a:spcPts val="0"/>
              </a:spcBef>
              <a:spcAft>
                <a:spcPts val="800"/>
              </a:spcAft>
              <a:buNone/>
            </a:pPr>
            <a:r>
              <a:rPr lang="en-GB" sz="1800" kern="100" dirty="0">
                <a:effectLst/>
                <a:latin typeface="Calibri" panose="020F0502020204030204" pitchFamily="34" charset="0"/>
                <a:ea typeface="Calibri" panose="020F0502020204030204" pitchFamily="34" charset="0"/>
                <a:cs typeface="Arial" panose="020B0604020202020204" pitchFamily="34" charset="0"/>
              </a:rPr>
              <a:t>Examples of </a:t>
            </a:r>
            <a:r>
              <a:rPr lang="en-GB" sz="1800" u="sng" kern="100" dirty="0">
                <a:effectLst/>
                <a:latin typeface="Calibri" panose="020F0502020204030204" pitchFamily="34" charset="0"/>
                <a:ea typeface="Calibri" panose="020F0502020204030204" pitchFamily="34" charset="0"/>
                <a:cs typeface="Arial" panose="020B0604020202020204" pitchFamily="34" charset="0"/>
              </a:rPr>
              <a:t>common production environments </a:t>
            </a:r>
            <a:r>
              <a:rPr lang="en-GB" sz="1800" kern="100" dirty="0">
                <a:effectLst/>
                <a:latin typeface="Calibri" panose="020F0502020204030204" pitchFamily="34" charset="0"/>
                <a:ea typeface="Calibri" panose="020F0502020204030204" pitchFamily="34" charset="0"/>
                <a:cs typeface="Arial" panose="020B0604020202020204" pitchFamily="34" charset="0"/>
              </a:rPr>
              <a:t>tailored to the specific needs of the software being deployed:</a:t>
            </a:r>
          </a:p>
          <a:p>
            <a:pPr marR="0" indent="0" algn="just">
              <a:lnSpc>
                <a:spcPct val="107000"/>
              </a:lnSpc>
              <a:spcBef>
                <a:spcPts val="0"/>
              </a:spcBef>
              <a:spcAft>
                <a:spcPts val="800"/>
              </a:spcAft>
              <a:buNone/>
            </a:pPr>
            <a:r>
              <a:rPr lang="en-GB" sz="1800" kern="100" dirty="0">
                <a:effectLst/>
                <a:latin typeface="Calibri" panose="020F0502020204030204" pitchFamily="34" charset="0"/>
                <a:ea typeface="Calibri" panose="020F0502020204030204" pitchFamily="34" charset="0"/>
                <a:cs typeface="Arial" panose="020B0604020202020204" pitchFamily="34" charset="0"/>
              </a:rPr>
              <a:t>Web Servers: These environments host web applications and websites. Examples include Apache, Nginx, and 	Microsoft IIS.</a:t>
            </a:r>
          </a:p>
          <a:p>
            <a:pPr marR="0" indent="0" algn="just">
              <a:lnSpc>
                <a:spcPct val="107000"/>
              </a:lnSpc>
              <a:spcBef>
                <a:spcPts val="0"/>
              </a:spcBef>
              <a:spcAft>
                <a:spcPts val="800"/>
              </a:spcAft>
              <a:buNone/>
            </a:pPr>
            <a:r>
              <a:rPr lang="en-GB" sz="1800" kern="100" dirty="0">
                <a:effectLst/>
                <a:latin typeface="Calibri" panose="020F0502020204030204" pitchFamily="34" charset="0"/>
                <a:ea typeface="Calibri" panose="020F0502020204030204" pitchFamily="34" charset="0"/>
                <a:cs typeface="Arial" panose="020B0604020202020204" pitchFamily="34" charset="0"/>
              </a:rPr>
              <a:t>Database Servers: These environments manage databases for applications. Common examples are MySQL, Oracle, 	and Microsoft SQL Server.</a:t>
            </a:r>
          </a:p>
          <a:p>
            <a:pPr marR="0" indent="0" algn="just">
              <a:lnSpc>
                <a:spcPct val="107000"/>
              </a:lnSpc>
              <a:spcBef>
                <a:spcPts val="0"/>
              </a:spcBef>
              <a:spcAft>
                <a:spcPts val="800"/>
              </a:spcAft>
              <a:buNone/>
            </a:pPr>
            <a:r>
              <a:rPr lang="en-GB" sz="1800" kern="100" dirty="0">
                <a:effectLst/>
                <a:latin typeface="Calibri" panose="020F0502020204030204" pitchFamily="34" charset="0"/>
                <a:ea typeface="Calibri" panose="020F0502020204030204" pitchFamily="34" charset="0"/>
                <a:cs typeface="Arial" panose="020B0604020202020204" pitchFamily="34" charset="0"/>
              </a:rPr>
              <a:t>Application Servers: These environments run application logic and services. Examples include Apache Tomcat, 	JBoss, and IBM WebSphere.</a:t>
            </a:r>
          </a:p>
          <a:p>
            <a:pPr marR="0" indent="0" algn="just">
              <a:lnSpc>
                <a:spcPct val="107000"/>
              </a:lnSpc>
              <a:spcBef>
                <a:spcPts val="0"/>
              </a:spcBef>
              <a:spcAft>
                <a:spcPts val="800"/>
              </a:spcAft>
              <a:buNone/>
            </a:pPr>
            <a:r>
              <a:rPr lang="en-GB" sz="1800" kern="100" dirty="0">
                <a:effectLst/>
                <a:latin typeface="Calibri" panose="020F0502020204030204" pitchFamily="34" charset="0"/>
                <a:ea typeface="Calibri" panose="020F0502020204030204" pitchFamily="34" charset="0"/>
                <a:cs typeface="Arial" panose="020B0604020202020204" pitchFamily="34" charset="0"/>
              </a:rPr>
              <a:t>Cloud Environments: These are hosted on cloud platforms like AWS, Azure, and Google Cloud. </a:t>
            </a:r>
          </a:p>
          <a:p>
            <a:pPr marR="0" indent="0" algn="just">
              <a:lnSpc>
                <a:spcPct val="107000"/>
              </a:lnSpc>
              <a:spcBef>
                <a:spcPts val="0"/>
              </a:spcBef>
              <a:spcAft>
                <a:spcPts val="800"/>
              </a:spcAft>
              <a:buNone/>
            </a:pPr>
            <a:r>
              <a:rPr lang="en-GB" sz="1800" kern="100" dirty="0">
                <a:effectLst/>
                <a:latin typeface="Calibri" panose="020F0502020204030204" pitchFamily="34" charset="0"/>
                <a:ea typeface="Calibri" panose="020F0502020204030204" pitchFamily="34" charset="0"/>
                <a:cs typeface="Arial" panose="020B0604020202020204" pitchFamily="34" charset="0"/>
              </a:rPr>
              <a:t>Containerized Environments: These use containerization technologies like Docker and Kubernetes to deploy and 	manage applications in isolated environments.</a:t>
            </a:r>
          </a:p>
          <a:p>
            <a:pPr marR="0" indent="0" algn="just">
              <a:lnSpc>
                <a:spcPct val="107000"/>
              </a:lnSpc>
              <a:spcBef>
                <a:spcPts val="0"/>
              </a:spcBef>
              <a:spcAft>
                <a:spcPts val="800"/>
              </a:spcAft>
              <a:buNone/>
            </a:pPr>
            <a:r>
              <a:rPr lang="en-GB" sz="1800" kern="100" dirty="0">
                <a:effectLst/>
                <a:latin typeface="Calibri" panose="020F0502020204030204" pitchFamily="34" charset="0"/>
                <a:ea typeface="Calibri" panose="020F0502020204030204" pitchFamily="34" charset="0"/>
                <a:cs typeface="Arial" panose="020B0604020202020204" pitchFamily="34" charset="0"/>
              </a:rPr>
              <a:t>Microservices Environments: These environments support applications built using microservices architecture, often 	using tools like Kubernetes, Istio, and Consul.</a:t>
            </a:r>
          </a:p>
          <a:p>
            <a:pPr marR="0" indent="0" algn="just">
              <a:lnSpc>
                <a:spcPct val="107000"/>
              </a:lnSpc>
              <a:spcBef>
                <a:spcPts val="0"/>
              </a:spcBef>
              <a:spcAft>
                <a:spcPts val="800"/>
              </a:spcAft>
              <a:buNone/>
            </a:pPr>
            <a:r>
              <a:rPr lang="en-GB" sz="1800" kern="100" dirty="0">
                <a:effectLst/>
                <a:latin typeface="Calibri" panose="020F0502020204030204" pitchFamily="34" charset="0"/>
                <a:ea typeface="Calibri" panose="020F0502020204030204" pitchFamily="34" charset="0"/>
                <a:cs typeface="Arial" panose="020B0604020202020204" pitchFamily="34" charset="0"/>
              </a:rPr>
              <a:t>Mobile Environments: These are used for deploying mobile applications on platforms like iOS and Android, often 	using services like Firebase or AWS Mobile Hub.</a:t>
            </a:r>
          </a:p>
        </p:txBody>
      </p:sp>
      <p:sp>
        <p:nvSpPr>
          <p:cNvPr id="4" name="Footer Placeholder 3">
            <a:extLst>
              <a:ext uri="{FF2B5EF4-FFF2-40B4-BE49-F238E27FC236}">
                <a16:creationId xmlns:a16="http://schemas.microsoft.com/office/drawing/2014/main" id="{91A56A51-3E67-BC9B-E65C-14B2287DF2BC}"/>
              </a:ext>
            </a:extLst>
          </p:cNvPr>
          <p:cNvSpPr>
            <a:spLocks noGrp="1"/>
          </p:cNvSpPr>
          <p:nvPr>
            <p:ph type="ftr" sz="quarter" idx="11"/>
          </p:nvPr>
        </p:nvSpPr>
        <p:spPr/>
        <p:txBody>
          <a:bodyPr/>
          <a:lstStyle/>
          <a:p>
            <a:r>
              <a:rPr lang="en-US" dirty="0">
                <a:solidFill>
                  <a:schemeClr val="tx1"/>
                </a:solidFill>
              </a:rPr>
              <a:t>Prepared by Dr. Fawzi Albalooshi</a:t>
            </a:r>
            <a:endParaRPr lang="en-GB" dirty="0">
              <a:solidFill>
                <a:schemeClr val="tx1"/>
              </a:solidFill>
            </a:endParaRPr>
          </a:p>
        </p:txBody>
      </p:sp>
    </p:spTree>
    <p:extLst>
      <p:ext uri="{BB962C8B-B14F-4D97-AF65-F5344CB8AC3E}">
        <p14:creationId xmlns:p14="http://schemas.microsoft.com/office/powerpoint/2010/main" val="38122424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2B1CF96-3DBD-2C1C-C3AA-E40AEF9DAABA}"/>
              </a:ext>
            </a:extLst>
          </p:cNvPr>
          <p:cNvSpPr>
            <a:spLocks noGrp="1"/>
          </p:cNvSpPr>
          <p:nvPr>
            <p:ph type="title"/>
          </p:nvPr>
        </p:nvSpPr>
        <p:spPr>
          <a:xfrm>
            <a:off x="838200" y="365125"/>
            <a:ext cx="10515600" cy="1325563"/>
          </a:xfrm>
        </p:spPr>
        <p:txBody>
          <a:bodyPr>
            <a:normAutofit fontScale="90000"/>
          </a:bodyPr>
          <a:lstStyle/>
          <a:p>
            <a:r>
              <a:rPr lang="en-US" sz="4800" b="1" dirty="0">
                <a:latin typeface="Calibri" panose="020F0502020204030204" pitchFamily="34" charset="0"/>
                <a:ea typeface="Calibri" panose="020F0502020204030204" pitchFamily="34" charset="0"/>
                <a:cs typeface="Arial" panose="020B0604020202020204" pitchFamily="34" charset="0"/>
              </a:rPr>
              <a:t>Enable On-demand Creation of Dev, Test, and Production Environments </a:t>
            </a:r>
            <a:endParaRPr lang="en-GB" sz="4800" b="1" dirty="0">
              <a:latin typeface="Calibri" panose="020F0502020204030204" pitchFamily="34" charset="0"/>
              <a:ea typeface="Calibri" panose="020F0502020204030204" pitchFamily="34" charset="0"/>
              <a:cs typeface="Arial" panose="020B0604020202020204" pitchFamily="34" charset="0"/>
            </a:endParaRPr>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C0A0DA03-8DCB-6C12-0FDB-B85BAA7CAAC3}"/>
              </a:ext>
            </a:extLst>
          </p:cNvPr>
          <p:cNvSpPr>
            <a:spLocks noGrp="1"/>
          </p:cNvSpPr>
          <p:nvPr>
            <p:ph idx="1"/>
          </p:nvPr>
        </p:nvSpPr>
        <p:spPr>
          <a:xfrm>
            <a:off x="390617" y="1864311"/>
            <a:ext cx="11132347" cy="4824836"/>
          </a:xfrm>
        </p:spPr>
        <p:txBody>
          <a:bodyPr>
            <a:normAutofit fontScale="92500" lnSpcReduction="10000"/>
          </a:bodyPr>
          <a:lstStyle/>
          <a:p>
            <a:pPr indent="0" algn="just">
              <a:lnSpc>
                <a:spcPct val="107000"/>
              </a:lnSpc>
              <a:spcBef>
                <a:spcPts val="0"/>
              </a:spcBef>
              <a:spcAft>
                <a:spcPts val="800"/>
              </a:spcAft>
              <a:buNone/>
            </a:pPr>
            <a:r>
              <a:rPr lang="en-US" sz="2400" kern="100" dirty="0">
                <a:effectLst/>
                <a:latin typeface="Calibri" panose="020F0502020204030204" pitchFamily="34" charset="0"/>
                <a:ea typeface="Calibri" panose="020F0502020204030204" pitchFamily="34" charset="0"/>
                <a:cs typeface="Arial" panose="020B0604020202020204" pitchFamily="34" charset="0"/>
              </a:rPr>
              <a:t>In some cases, a production-like environment might be a mirror of the production environment, using the same hardware, software, and data configurations. In other cases, it might simply simulate key aspects of the production environment, such as network latency or database size.</a:t>
            </a:r>
            <a:endParaRPr lang="en-GB" sz="2400" kern="100" dirty="0">
              <a:effectLst/>
              <a:latin typeface="Calibri" panose="020F0502020204030204" pitchFamily="34" charset="0"/>
              <a:ea typeface="Calibri" panose="020F0502020204030204" pitchFamily="34" charset="0"/>
              <a:cs typeface="Arial" panose="020B0604020202020204" pitchFamily="34" charset="0"/>
            </a:endParaRPr>
          </a:p>
          <a:p>
            <a:pPr indent="0" algn="just">
              <a:lnSpc>
                <a:spcPct val="107000"/>
              </a:lnSpc>
              <a:spcBef>
                <a:spcPts val="0"/>
              </a:spcBef>
              <a:spcAft>
                <a:spcPts val="800"/>
              </a:spcAft>
              <a:buNone/>
            </a:pPr>
            <a:r>
              <a:rPr lang="en-GB" sz="2400" kern="100" dirty="0">
                <a:effectLst/>
                <a:latin typeface="Calibri" panose="020F0502020204030204" pitchFamily="34" charset="0"/>
                <a:ea typeface="Calibri" panose="020F0502020204030204" pitchFamily="34" charset="0"/>
                <a:cs typeface="Arial" panose="020B0604020202020204" pitchFamily="34" charset="0"/>
              </a:rPr>
              <a:t>Instead of merely documenting the specifications of the production environment in a document or on a wiki page, </a:t>
            </a:r>
            <a:r>
              <a:rPr lang="en-GB" sz="2400" u="sng" kern="100" dirty="0">
                <a:effectLst/>
                <a:latin typeface="Calibri" panose="020F0502020204030204" pitchFamily="34" charset="0"/>
                <a:ea typeface="Calibri" panose="020F0502020204030204" pitchFamily="34" charset="0"/>
                <a:cs typeface="Arial" panose="020B0604020202020204" pitchFamily="34" charset="0"/>
              </a:rPr>
              <a:t>we create a common build mechanism that creates all our environments, such as for development, testing, and production</a:t>
            </a:r>
            <a:r>
              <a:rPr lang="en-GB" sz="2400" kern="100" dirty="0">
                <a:effectLst/>
                <a:latin typeface="Calibri" panose="020F0502020204030204" pitchFamily="34" charset="0"/>
                <a:ea typeface="Calibri" panose="020F0502020204030204" pitchFamily="34" charset="0"/>
                <a:cs typeface="Arial" panose="020B0604020202020204" pitchFamily="34" charset="0"/>
              </a:rPr>
              <a:t>. By doing this, anyone can get production-like environments in minutes, without opening a ticket, let alone having to wait weeks.</a:t>
            </a:r>
            <a:endParaRPr lang="en-GB" sz="2400" u="sng" kern="100" dirty="0">
              <a:effectLst/>
              <a:latin typeface="Calibri" panose="020F0502020204030204" pitchFamily="34" charset="0"/>
              <a:ea typeface="Calibri" panose="020F0502020204030204" pitchFamily="34" charset="0"/>
              <a:cs typeface="Arial" panose="020B0604020202020204" pitchFamily="34" charset="0"/>
            </a:endParaRPr>
          </a:p>
          <a:p>
            <a:pPr marR="0" indent="0" algn="just">
              <a:lnSpc>
                <a:spcPct val="107000"/>
              </a:lnSpc>
              <a:spcBef>
                <a:spcPts val="0"/>
              </a:spcBef>
              <a:spcAft>
                <a:spcPts val="800"/>
              </a:spcAft>
              <a:buNone/>
            </a:pPr>
            <a:r>
              <a:rPr lang="en-GB" sz="2400" u="sng" kern="100" dirty="0">
                <a:effectLst/>
                <a:latin typeface="Calibri" panose="020F0502020204030204" pitchFamily="34" charset="0"/>
                <a:ea typeface="Calibri" panose="020F0502020204030204" pitchFamily="34" charset="0"/>
                <a:cs typeface="Arial" panose="020B0604020202020204" pitchFamily="34" charset="0"/>
              </a:rPr>
              <a:t>To do this requires defining and automating the creation of our known, good environments,</a:t>
            </a:r>
            <a:r>
              <a:rPr lang="en-GB" sz="2400" kern="100" dirty="0">
                <a:effectLst/>
                <a:latin typeface="Calibri" panose="020F0502020204030204" pitchFamily="34" charset="0"/>
                <a:ea typeface="Calibri" panose="020F0502020204030204" pitchFamily="34" charset="0"/>
                <a:cs typeface="Arial" panose="020B0604020202020204" pitchFamily="34" charset="0"/>
              </a:rPr>
              <a:t> which are stable, secure, and in a risk-reduced state, embodying the collective knowledge of the organization. All our requirements are embodied, not in documents or as knowledge in someone’s head, but codified in our automated environment build process.</a:t>
            </a:r>
          </a:p>
          <a:p>
            <a:pPr marL="0" indent="0" algn="just">
              <a:buNone/>
            </a:pPr>
            <a:endParaRPr lang="en-GB" sz="2200" dirty="0"/>
          </a:p>
        </p:txBody>
      </p:sp>
      <p:sp>
        <p:nvSpPr>
          <p:cNvPr id="4" name="Footer Placeholder 3">
            <a:extLst>
              <a:ext uri="{FF2B5EF4-FFF2-40B4-BE49-F238E27FC236}">
                <a16:creationId xmlns:a16="http://schemas.microsoft.com/office/drawing/2014/main" id="{A5F71B27-37D7-CFAA-1EA1-37947CE9E49C}"/>
              </a:ext>
            </a:extLst>
          </p:cNvPr>
          <p:cNvSpPr>
            <a:spLocks noGrp="1"/>
          </p:cNvSpPr>
          <p:nvPr>
            <p:ph type="ftr" sz="quarter" idx="11"/>
          </p:nvPr>
        </p:nvSpPr>
        <p:spPr/>
        <p:txBody>
          <a:bodyPr/>
          <a:lstStyle/>
          <a:p>
            <a:r>
              <a:rPr lang="en-US" dirty="0">
                <a:solidFill>
                  <a:schemeClr val="tx1"/>
                </a:solidFill>
              </a:rPr>
              <a:t>Prepared by Dr. Fawzi Albalooshi</a:t>
            </a:r>
            <a:endParaRPr lang="en-GB" dirty="0">
              <a:solidFill>
                <a:schemeClr val="tx1"/>
              </a:solidFill>
            </a:endParaRPr>
          </a:p>
        </p:txBody>
      </p:sp>
    </p:spTree>
    <p:extLst>
      <p:ext uri="{BB962C8B-B14F-4D97-AF65-F5344CB8AC3E}">
        <p14:creationId xmlns:p14="http://schemas.microsoft.com/office/powerpoint/2010/main" val="344359818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2B1CF96-3DBD-2C1C-C3AA-E40AEF9DAABA}"/>
              </a:ext>
            </a:extLst>
          </p:cNvPr>
          <p:cNvSpPr>
            <a:spLocks noGrp="1"/>
          </p:cNvSpPr>
          <p:nvPr>
            <p:ph type="title"/>
          </p:nvPr>
        </p:nvSpPr>
        <p:spPr>
          <a:xfrm>
            <a:off x="838200" y="365125"/>
            <a:ext cx="10515600" cy="1325563"/>
          </a:xfrm>
        </p:spPr>
        <p:txBody>
          <a:bodyPr>
            <a:normAutofit fontScale="90000"/>
          </a:bodyPr>
          <a:lstStyle/>
          <a:p>
            <a:r>
              <a:rPr lang="en-US" sz="4800" b="1" dirty="0">
                <a:latin typeface="Calibri" panose="020F0502020204030204" pitchFamily="34" charset="0"/>
                <a:ea typeface="Calibri" panose="020F0502020204030204" pitchFamily="34" charset="0"/>
                <a:cs typeface="Arial" panose="020B0604020202020204" pitchFamily="34" charset="0"/>
              </a:rPr>
              <a:t>Enable On-demand Creation of Dev, Test, and Production Environments </a:t>
            </a:r>
            <a:endParaRPr lang="en-GB" sz="4800" b="1" dirty="0">
              <a:latin typeface="Calibri" panose="020F0502020204030204" pitchFamily="34" charset="0"/>
              <a:ea typeface="Calibri" panose="020F0502020204030204" pitchFamily="34" charset="0"/>
              <a:cs typeface="Arial" panose="020B0604020202020204" pitchFamily="34" charset="0"/>
            </a:endParaRPr>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C0A0DA03-8DCB-6C12-0FDB-B85BAA7CAAC3}"/>
              </a:ext>
            </a:extLst>
          </p:cNvPr>
          <p:cNvSpPr>
            <a:spLocks noGrp="1"/>
          </p:cNvSpPr>
          <p:nvPr>
            <p:ph idx="1"/>
          </p:nvPr>
        </p:nvSpPr>
        <p:spPr>
          <a:xfrm>
            <a:off x="669036" y="1896726"/>
            <a:ext cx="10942956" cy="4559572"/>
          </a:xfrm>
        </p:spPr>
        <p:txBody>
          <a:bodyPr>
            <a:normAutofit/>
          </a:bodyPr>
          <a:lstStyle/>
          <a:p>
            <a:pPr marL="0" indent="0" algn="just">
              <a:buNone/>
            </a:pPr>
            <a:r>
              <a:rPr lang="en-US" sz="2200" dirty="0"/>
              <a:t>Instead of </a:t>
            </a:r>
            <a:r>
              <a:rPr lang="en-US" sz="2200" b="1" dirty="0"/>
              <a:t>Operations</a:t>
            </a:r>
            <a:r>
              <a:rPr lang="en-US" sz="2200" dirty="0"/>
              <a:t> manually building and configuring the environment, we can use automation for any or all of the following:</a:t>
            </a:r>
          </a:p>
          <a:p>
            <a:pPr marL="0" indent="0" algn="just">
              <a:buNone/>
            </a:pPr>
            <a:endParaRPr lang="en-US" sz="2200" dirty="0"/>
          </a:p>
          <a:p>
            <a:pPr lvl="1" algn="just"/>
            <a:r>
              <a:rPr lang="en-US" sz="2000" dirty="0"/>
              <a:t>Copying a virtualized environment.</a:t>
            </a:r>
          </a:p>
          <a:p>
            <a:pPr lvl="1" algn="just"/>
            <a:r>
              <a:rPr lang="en-US" sz="2000" dirty="0"/>
              <a:t>Building an automated environment creation process that starts from “bare metal”.</a:t>
            </a:r>
          </a:p>
          <a:p>
            <a:pPr lvl="1" algn="just"/>
            <a:r>
              <a:rPr lang="en-US" sz="2000" dirty="0"/>
              <a:t>Using “infrastructure as code” configuration management tools.</a:t>
            </a:r>
          </a:p>
          <a:p>
            <a:pPr lvl="1" algn="just"/>
            <a:r>
              <a:rPr lang="en-US" sz="2000" dirty="0"/>
              <a:t>Using automated operating system configuration tools.</a:t>
            </a:r>
          </a:p>
          <a:p>
            <a:pPr lvl="1" algn="just"/>
            <a:r>
              <a:rPr lang="en-US" sz="2000" dirty="0"/>
              <a:t>Assembling an environment from a set of virtual images or containers.</a:t>
            </a:r>
          </a:p>
          <a:p>
            <a:pPr lvl="1" algn="just"/>
            <a:r>
              <a:rPr lang="en-US" sz="2000" dirty="0"/>
              <a:t>Spinning up a new environment in a public cloud, private cloud, or other PaaS.</a:t>
            </a:r>
          </a:p>
          <a:p>
            <a:pPr marL="457200" lvl="1" indent="0" algn="just">
              <a:buNone/>
            </a:pPr>
            <a:endParaRPr lang="en-US" sz="2000" dirty="0"/>
          </a:p>
          <a:p>
            <a:pPr marL="0" indent="0" algn="just">
              <a:buNone/>
            </a:pPr>
            <a:r>
              <a:rPr lang="en-US" sz="2200" dirty="0"/>
              <a:t>Because we have carefully defined all aspects of the environment ahead of time, we are not only able to create new environments quickly but also ensure that these environments will be stable, reliable, consistent, and secure. This benefits everyone.</a:t>
            </a:r>
          </a:p>
        </p:txBody>
      </p:sp>
      <p:sp>
        <p:nvSpPr>
          <p:cNvPr id="4" name="Footer Placeholder 3">
            <a:extLst>
              <a:ext uri="{FF2B5EF4-FFF2-40B4-BE49-F238E27FC236}">
                <a16:creationId xmlns:a16="http://schemas.microsoft.com/office/drawing/2014/main" id="{20F8078D-0240-986D-0CC1-4A705D640694}"/>
              </a:ext>
            </a:extLst>
          </p:cNvPr>
          <p:cNvSpPr>
            <a:spLocks noGrp="1"/>
          </p:cNvSpPr>
          <p:nvPr>
            <p:ph type="ftr" sz="quarter" idx="11"/>
          </p:nvPr>
        </p:nvSpPr>
        <p:spPr/>
        <p:txBody>
          <a:bodyPr/>
          <a:lstStyle/>
          <a:p>
            <a:r>
              <a:rPr lang="en-US" dirty="0">
                <a:solidFill>
                  <a:schemeClr val="tx1"/>
                </a:solidFill>
              </a:rPr>
              <a:t>Prepared by Dr. Fawzi Albalooshi</a:t>
            </a:r>
            <a:endParaRPr lang="en-GB" dirty="0">
              <a:solidFill>
                <a:schemeClr val="tx1"/>
              </a:solidFill>
            </a:endParaRPr>
          </a:p>
        </p:txBody>
      </p:sp>
    </p:spTree>
    <p:extLst>
      <p:ext uri="{BB962C8B-B14F-4D97-AF65-F5344CB8AC3E}">
        <p14:creationId xmlns:p14="http://schemas.microsoft.com/office/powerpoint/2010/main" val="128708399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2B1CF96-3DBD-2C1C-C3AA-E40AEF9DAABA}"/>
              </a:ext>
            </a:extLst>
          </p:cNvPr>
          <p:cNvSpPr>
            <a:spLocks noGrp="1"/>
          </p:cNvSpPr>
          <p:nvPr>
            <p:ph type="title"/>
          </p:nvPr>
        </p:nvSpPr>
        <p:spPr>
          <a:xfrm>
            <a:off x="838200" y="365125"/>
            <a:ext cx="10515600" cy="1325563"/>
          </a:xfrm>
        </p:spPr>
        <p:txBody>
          <a:bodyPr>
            <a:normAutofit fontScale="90000"/>
          </a:bodyPr>
          <a:lstStyle/>
          <a:p>
            <a:r>
              <a:rPr lang="en-US" sz="4800" b="1" dirty="0">
                <a:latin typeface="Calibri" panose="020F0502020204030204" pitchFamily="34" charset="0"/>
                <a:ea typeface="Calibri" panose="020F0502020204030204" pitchFamily="34" charset="0"/>
                <a:cs typeface="Arial" panose="020B0604020202020204" pitchFamily="34" charset="0"/>
              </a:rPr>
              <a:t>Enable On-demand Creation of Dev, Test, and Production Environments </a:t>
            </a:r>
            <a:endParaRPr lang="en-GB" sz="4800" b="1" dirty="0">
              <a:latin typeface="Calibri" panose="020F0502020204030204" pitchFamily="34" charset="0"/>
              <a:ea typeface="Calibri" panose="020F0502020204030204" pitchFamily="34" charset="0"/>
              <a:cs typeface="Arial" panose="020B0604020202020204" pitchFamily="34" charset="0"/>
            </a:endParaRPr>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C0A0DA03-8DCB-6C12-0FDB-B85BAA7CAAC3}"/>
              </a:ext>
            </a:extLst>
          </p:cNvPr>
          <p:cNvSpPr>
            <a:spLocks noGrp="1"/>
          </p:cNvSpPr>
          <p:nvPr>
            <p:ph idx="1"/>
          </p:nvPr>
        </p:nvSpPr>
        <p:spPr>
          <a:xfrm>
            <a:off x="499872" y="1885709"/>
            <a:ext cx="10853928" cy="4328660"/>
          </a:xfrm>
        </p:spPr>
        <p:txBody>
          <a:bodyPr>
            <a:normAutofit/>
          </a:bodyPr>
          <a:lstStyle/>
          <a:p>
            <a:pPr marL="457200" lvl="1" indent="0" algn="just">
              <a:buNone/>
            </a:pPr>
            <a:r>
              <a:rPr lang="en-US" sz="2000" b="1" dirty="0"/>
              <a:t>Virtualized environments </a:t>
            </a:r>
            <a:r>
              <a:rPr lang="en-US" sz="2000" dirty="0"/>
              <a:t>refer to the creation of a simulated, or virtual, computing environment as opposed to a physical one. This often includes computer-generated versions of hardware, operating systems, storage devices, and more. </a:t>
            </a:r>
          </a:p>
          <a:p>
            <a:pPr marL="457200" lvl="1" indent="0" algn="just">
              <a:buNone/>
            </a:pPr>
            <a:r>
              <a:rPr lang="en-US" sz="2000" dirty="0"/>
              <a:t>Creating a virtual computing environment allows you to run an operating system within an app window on your desktop, simulating a separate computer. Whether you’re experimenting with different operating systems, testing software, or creating a sandboxed environment, virtual machines (VMs) are a powerful tool. </a:t>
            </a:r>
            <a:r>
              <a:rPr lang="en-US" sz="2000" dirty="0">
                <a:hlinkClick r:id="rId2"/>
              </a:rPr>
              <a:t>https://youtu.be/FZR0rG3HKIk?feature=shared</a:t>
            </a:r>
            <a:r>
              <a:rPr lang="en-US" sz="2000" dirty="0"/>
              <a:t> </a:t>
            </a:r>
          </a:p>
          <a:p>
            <a:pPr lvl="1" algn="just"/>
            <a:endParaRPr lang="en-US" sz="2000" dirty="0"/>
          </a:p>
          <a:p>
            <a:pPr marL="457200" lvl="1" indent="0" algn="just">
              <a:buNone/>
            </a:pPr>
            <a:r>
              <a:rPr lang="en-US" sz="2000" b="1" dirty="0"/>
              <a:t>Bare metal </a:t>
            </a:r>
            <a:r>
              <a:rPr lang="en-US" sz="2000" dirty="0"/>
              <a:t>refers to a computer system that does not have a base operating system (OS) or installed applications. It is the computer’s hardware assembly, structure, and components that are installed with either the firmware or basic input/output system (BIOS) software utility or no software at all. In other words, “bare metal” involves provisioning and configuring physical servers or devices from scratch, without any pre-installed operating system or software. </a:t>
            </a:r>
          </a:p>
          <a:p>
            <a:pPr marL="457200" lvl="1" indent="0" algn="just">
              <a:buNone/>
            </a:pPr>
            <a:endParaRPr lang="en-US" sz="2000" dirty="0"/>
          </a:p>
        </p:txBody>
      </p:sp>
      <p:sp>
        <p:nvSpPr>
          <p:cNvPr id="4" name="Footer Placeholder 3">
            <a:extLst>
              <a:ext uri="{FF2B5EF4-FFF2-40B4-BE49-F238E27FC236}">
                <a16:creationId xmlns:a16="http://schemas.microsoft.com/office/drawing/2014/main" id="{0B0A0A4F-464C-1A62-0A5A-C6580091E1E9}"/>
              </a:ext>
            </a:extLst>
          </p:cNvPr>
          <p:cNvSpPr>
            <a:spLocks noGrp="1"/>
          </p:cNvSpPr>
          <p:nvPr>
            <p:ph type="ftr" sz="quarter" idx="11"/>
          </p:nvPr>
        </p:nvSpPr>
        <p:spPr/>
        <p:txBody>
          <a:bodyPr/>
          <a:lstStyle/>
          <a:p>
            <a:r>
              <a:rPr lang="en-US" dirty="0">
                <a:solidFill>
                  <a:schemeClr val="tx1"/>
                </a:solidFill>
              </a:rPr>
              <a:t>Prepared by Dr. Fawzi Albalooshi</a:t>
            </a:r>
            <a:endParaRPr lang="en-GB" dirty="0">
              <a:solidFill>
                <a:schemeClr val="tx1"/>
              </a:solidFill>
            </a:endParaRPr>
          </a:p>
        </p:txBody>
      </p:sp>
    </p:spTree>
    <p:extLst>
      <p:ext uri="{BB962C8B-B14F-4D97-AF65-F5344CB8AC3E}">
        <p14:creationId xmlns:p14="http://schemas.microsoft.com/office/powerpoint/2010/main" val="122927659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42F77FA-EFE7-EB5C-C607-326364EF9479}"/>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153066A-D583-F775-8F11-5A92F18746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6AB0FA8-AF83-BA8F-605E-DFE7826B5232}"/>
              </a:ext>
            </a:extLst>
          </p:cNvPr>
          <p:cNvSpPr>
            <a:spLocks noGrp="1"/>
          </p:cNvSpPr>
          <p:nvPr>
            <p:ph type="title"/>
          </p:nvPr>
        </p:nvSpPr>
        <p:spPr>
          <a:xfrm>
            <a:off x="838200" y="365125"/>
            <a:ext cx="10515600" cy="1325563"/>
          </a:xfrm>
        </p:spPr>
        <p:txBody>
          <a:bodyPr>
            <a:normAutofit fontScale="90000"/>
          </a:bodyPr>
          <a:lstStyle/>
          <a:p>
            <a:r>
              <a:rPr lang="en-US" sz="4800" b="1" dirty="0">
                <a:latin typeface="Calibri" panose="020F0502020204030204" pitchFamily="34" charset="0"/>
                <a:ea typeface="Calibri" panose="020F0502020204030204" pitchFamily="34" charset="0"/>
                <a:cs typeface="Arial" panose="020B0604020202020204" pitchFamily="34" charset="0"/>
              </a:rPr>
              <a:t>Enable On-demand Creation of Dev, Test, and Production Environments </a:t>
            </a:r>
            <a:endParaRPr lang="en-GB" sz="4800" b="1" dirty="0">
              <a:latin typeface="Calibri" panose="020F0502020204030204" pitchFamily="34" charset="0"/>
              <a:ea typeface="Calibri" panose="020F0502020204030204" pitchFamily="34" charset="0"/>
              <a:cs typeface="Arial" panose="020B0604020202020204" pitchFamily="34" charset="0"/>
            </a:endParaRPr>
          </a:p>
        </p:txBody>
      </p:sp>
      <p:sp>
        <p:nvSpPr>
          <p:cNvPr id="10" name="sketch line">
            <a:extLst>
              <a:ext uri="{FF2B5EF4-FFF2-40B4-BE49-F238E27FC236}">
                <a16:creationId xmlns:a16="http://schemas.microsoft.com/office/drawing/2014/main" id="{CD02CAD5-E071-88F0-AD8D-29128E6BD3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1A070EEB-9F45-E70F-F190-C331CFB3982B}"/>
              </a:ext>
            </a:extLst>
          </p:cNvPr>
          <p:cNvSpPr>
            <a:spLocks noGrp="1"/>
          </p:cNvSpPr>
          <p:nvPr>
            <p:ph idx="1"/>
          </p:nvPr>
        </p:nvSpPr>
        <p:spPr>
          <a:xfrm>
            <a:off x="499872" y="1885709"/>
            <a:ext cx="10853928" cy="4505680"/>
          </a:xfrm>
        </p:spPr>
        <p:txBody>
          <a:bodyPr>
            <a:normAutofit/>
          </a:bodyPr>
          <a:lstStyle/>
          <a:p>
            <a:pPr marL="457200" lvl="1" indent="0" algn="just">
              <a:buNone/>
            </a:pPr>
            <a:endParaRPr lang="en-US" sz="2000" dirty="0"/>
          </a:p>
          <a:p>
            <a:pPr marL="457200" lvl="1" indent="0" algn="just">
              <a:buNone/>
            </a:pPr>
            <a:r>
              <a:rPr lang="en-US" sz="2000" b="1" dirty="0"/>
              <a:t>Infrastructure as code</a:t>
            </a:r>
            <a:r>
              <a:rPr lang="en-US" sz="2000" dirty="0"/>
              <a:t>: Infrastructure as Code (IaC) is a method of managing and provisioning computing infrastructure with machine-readable definition files, rather than physical hardware configuration or interactive configuration tools. </a:t>
            </a:r>
          </a:p>
          <a:p>
            <a:pPr marL="457200" lvl="1" indent="0" algn="just">
              <a:buNone/>
            </a:pPr>
            <a:endParaRPr lang="en-US" sz="2000" dirty="0"/>
          </a:p>
          <a:p>
            <a:pPr marL="457200" lvl="1" indent="0" algn="just">
              <a:buNone/>
            </a:pPr>
            <a:r>
              <a:rPr lang="en-US" sz="2000" dirty="0" err="1"/>
              <a:t>IaC</a:t>
            </a:r>
            <a:r>
              <a:rPr lang="en-US" sz="2000" dirty="0"/>
              <a:t> is a method of managing and provisioning IT infrastructure using code, rather than manual configuration. It allows teams to automate the setup and management of their infrastructure, making it more efficient and consistent. This is particularly useful in the DevOps environment, where teams are constantly updating and deploying software.</a:t>
            </a:r>
            <a:r>
              <a:rPr lang="en-US" sz="1600" dirty="0"/>
              <a:t> </a:t>
            </a:r>
            <a:r>
              <a:rPr lang="en-US" sz="1600" dirty="0">
                <a:hlinkClick r:id="rId2"/>
              </a:rPr>
              <a:t>What is Infrastructure as Code (</a:t>
            </a:r>
            <a:r>
              <a:rPr lang="en-US" sz="1600" dirty="0" err="1">
                <a:hlinkClick r:id="rId2"/>
              </a:rPr>
              <a:t>IaC</a:t>
            </a:r>
            <a:r>
              <a:rPr lang="en-US" sz="1600" dirty="0">
                <a:hlinkClick r:id="rId2"/>
              </a:rPr>
              <a:t>)? – </a:t>
            </a:r>
            <a:r>
              <a:rPr lang="en-US" sz="1600" dirty="0" err="1">
                <a:hlinkClick r:id="rId2"/>
              </a:rPr>
              <a:t>GeeksforGeeks</a:t>
            </a:r>
            <a:endParaRPr lang="en-US" sz="1600" dirty="0"/>
          </a:p>
          <a:p>
            <a:pPr marL="457200" lvl="1" indent="0" algn="just">
              <a:buNone/>
            </a:pPr>
            <a:endParaRPr lang="en-US" sz="1600" dirty="0"/>
          </a:p>
          <a:p>
            <a:pPr marL="457200" lvl="1" indent="0" algn="just">
              <a:buNone/>
            </a:pPr>
            <a:r>
              <a:rPr lang="en-US" sz="2000" dirty="0">
                <a:hlinkClick r:id="rId3"/>
              </a:rPr>
              <a:t>https://youtu.be/Kjq4vw_hMjE</a:t>
            </a:r>
            <a:r>
              <a:rPr lang="en-US" sz="1600" dirty="0"/>
              <a:t> </a:t>
            </a:r>
            <a:endParaRPr lang="en-US" sz="2000" dirty="0"/>
          </a:p>
        </p:txBody>
      </p:sp>
      <p:sp>
        <p:nvSpPr>
          <p:cNvPr id="4" name="Footer Placeholder 3">
            <a:extLst>
              <a:ext uri="{FF2B5EF4-FFF2-40B4-BE49-F238E27FC236}">
                <a16:creationId xmlns:a16="http://schemas.microsoft.com/office/drawing/2014/main" id="{5938B967-57CD-5AE8-603A-4AE240DC57D0}"/>
              </a:ext>
            </a:extLst>
          </p:cNvPr>
          <p:cNvSpPr>
            <a:spLocks noGrp="1"/>
          </p:cNvSpPr>
          <p:nvPr>
            <p:ph type="ftr" sz="quarter" idx="11"/>
          </p:nvPr>
        </p:nvSpPr>
        <p:spPr/>
        <p:txBody>
          <a:bodyPr/>
          <a:lstStyle/>
          <a:p>
            <a:r>
              <a:rPr lang="en-US" dirty="0">
                <a:solidFill>
                  <a:schemeClr val="tx1"/>
                </a:solidFill>
              </a:rPr>
              <a:t>Prepared by Dr. Fawzi Albalooshi</a:t>
            </a:r>
            <a:endParaRPr lang="en-GB" dirty="0">
              <a:solidFill>
                <a:schemeClr val="tx1"/>
              </a:solidFill>
            </a:endParaRPr>
          </a:p>
        </p:txBody>
      </p:sp>
    </p:spTree>
    <p:extLst>
      <p:ext uri="{BB962C8B-B14F-4D97-AF65-F5344CB8AC3E}">
        <p14:creationId xmlns:p14="http://schemas.microsoft.com/office/powerpoint/2010/main" val="402139546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2B1CF96-3DBD-2C1C-C3AA-E40AEF9DAABA}"/>
              </a:ext>
            </a:extLst>
          </p:cNvPr>
          <p:cNvSpPr>
            <a:spLocks noGrp="1"/>
          </p:cNvSpPr>
          <p:nvPr>
            <p:ph type="title"/>
          </p:nvPr>
        </p:nvSpPr>
        <p:spPr>
          <a:xfrm>
            <a:off x="838200" y="365125"/>
            <a:ext cx="10515600" cy="1325563"/>
          </a:xfrm>
        </p:spPr>
        <p:txBody>
          <a:bodyPr>
            <a:normAutofit fontScale="90000"/>
          </a:bodyPr>
          <a:lstStyle/>
          <a:p>
            <a:r>
              <a:rPr lang="en-US" sz="4800" b="1" dirty="0">
                <a:latin typeface="Calibri" panose="020F0502020204030204" pitchFamily="34" charset="0"/>
                <a:ea typeface="Calibri" panose="020F0502020204030204" pitchFamily="34" charset="0"/>
                <a:cs typeface="Arial" panose="020B0604020202020204" pitchFamily="34" charset="0"/>
              </a:rPr>
              <a:t>Enable On-demand Creation of Dev, Test, and Production Environments </a:t>
            </a:r>
            <a:endParaRPr lang="en-GB" sz="4800" b="1" dirty="0">
              <a:latin typeface="Calibri" panose="020F0502020204030204" pitchFamily="34" charset="0"/>
              <a:ea typeface="Calibri" panose="020F0502020204030204" pitchFamily="34" charset="0"/>
              <a:cs typeface="Arial" panose="020B0604020202020204" pitchFamily="34" charset="0"/>
            </a:endParaRPr>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C0A0DA03-8DCB-6C12-0FDB-B85BAA7CAAC3}"/>
              </a:ext>
            </a:extLst>
          </p:cNvPr>
          <p:cNvSpPr>
            <a:spLocks noGrp="1"/>
          </p:cNvSpPr>
          <p:nvPr>
            <p:ph idx="1"/>
          </p:nvPr>
        </p:nvSpPr>
        <p:spPr>
          <a:xfrm>
            <a:off x="499872" y="1907743"/>
            <a:ext cx="10853928" cy="4251960"/>
          </a:xfrm>
        </p:spPr>
        <p:txBody>
          <a:bodyPr>
            <a:normAutofit/>
          </a:bodyPr>
          <a:lstStyle/>
          <a:p>
            <a:pPr marL="457200" lvl="1" indent="0" algn="just">
              <a:buNone/>
            </a:pPr>
            <a:endParaRPr lang="en-US" sz="2000" dirty="0"/>
          </a:p>
          <a:p>
            <a:pPr marL="457200" lvl="1" indent="0" algn="just">
              <a:buNone/>
            </a:pPr>
            <a:r>
              <a:rPr lang="en-US" sz="2000" b="1" dirty="0"/>
              <a:t>Automated operating system configuration tools</a:t>
            </a:r>
            <a:r>
              <a:rPr lang="en-US" sz="2000" dirty="0"/>
              <a:t>: several tools are available to automate operating system configuration. Tools that can streamline processes, improve efficiency, and reduce manual intervention include, </a:t>
            </a:r>
            <a:r>
              <a:rPr lang="en-GB" sz="2000" i="1" dirty="0" err="1"/>
              <a:t>Auvik</a:t>
            </a:r>
            <a:r>
              <a:rPr lang="en-GB" sz="2000" i="1" dirty="0"/>
              <a:t>, Redwood, </a:t>
            </a:r>
            <a:r>
              <a:rPr lang="en-GB" sz="2000" i="1" dirty="0" err="1"/>
              <a:t>RunMyJobs</a:t>
            </a:r>
            <a:r>
              <a:rPr lang="en-GB" sz="2000" i="1" dirty="0"/>
              <a:t>, </a:t>
            </a:r>
            <a:r>
              <a:rPr lang="en-GB" sz="2000" i="1" dirty="0" err="1"/>
              <a:t>Atera</a:t>
            </a:r>
            <a:r>
              <a:rPr lang="en-GB" sz="2000" i="1" dirty="0"/>
              <a:t>, Tidal Workload Automation, </a:t>
            </a:r>
            <a:r>
              <a:rPr lang="en-GB" sz="2000" i="1" dirty="0" err="1"/>
              <a:t>SuperOps</a:t>
            </a:r>
            <a:r>
              <a:rPr lang="en-GB" sz="2000" dirty="0"/>
              <a:t>, and others. </a:t>
            </a:r>
            <a:r>
              <a:rPr lang="en-US" sz="2000" dirty="0"/>
              <a:t>These tools empower IT professionals to efficiently manage and automate various aspects of operating system configuration. </a:t>
            </a:r>
          </a:p>
          <a:p>
            <a:pPr marL="457200" lvl="1" indent="0" algn="just">
              <a:buNone/>
            </a:pPr>
            <a:endParaRPr lang="en-US" sz="2000" dirty="0"/>
          </a:p>
          <a:p>
            <a:pPr marL="457200" lvl="1" indent="0" algn="just">
              <a:buNone/>
            </a:pPr>
            <a:r>
              <a:rPr lang="en-US" sz="2000" b="1" dirty="0"/>
              <a:t>Assembling an environment from a set of virtual images or containers</a:t>
            </a:r>
            <a:r>
              <a:rPr lang="en-US" sz="2000" dirty="0"/>
              <a:t>: a virtual image typically refers to a computer file that behaves like an actual computer. This file is often called an image and can run in a window as a separate computing environment. It’s often used to run a different operating system or even to function as the user’s entire computer experience. Popular tools include </a:t>
            </a:r>
            <a:r>
              <a:rPr lang="en-US" sz="2000" i="1" dirty="0"/>
              <a:t>Docker, VirtualBox, VMware</a:t>
            </a:r>
            <a:r>
              <a:rPr lang="en-US" sz="2000" dirty="0"/>
              <a:t>, and Others.</a:t>
            </a:r>
          </a:p>
          <a:p>
            <a:pPr marL="457200" lvl="1" indent="0" algn="just">
              <a:buNone/>
            </a:pPr>
            <a:r>
              <a:rPr lang="en-US" sz="2000" dirty="0">
                <a:hlinkClick r:id="rId2"/>
              </a:rPr>
              <a:t>https://youtu.be/eyNBf1sqdBQ?feature=shared</a:t>
            </a:r>
            <a:r>
              <a:rPr lang="en-US" sz="2000" dirty="0"/>
              <a:t> </a:t>
            </a:r>
          </a:p>
        </p:txBody>
      </p:sp>
      <p:sp>
        <p:nvSpPr>
          <p:cNvPr id="4" name="Footer Placeholder 3">
            <a:extLst>
              <a:ext uri="{FF2B5EF4-FFF2-40B4-BE49-F238E27FC236}">
                <a16:creationId xmlns:a16="http://schemas.microsoft.com/office/drawing/2014/main" id="{B826707B-A21E-FC6C-FDEB-E1265E874228}"/>
              </a:ext>
            </a:extLst>
          </p:cNvPr>
          <p:cNvSpPr>
            <a:spLocks noGrp="1"/>
          </p:cNvSpPr>
          <p:nvPr>
            <p:ph type="ftr" sz="quarter" idx="11"/>
          </p:nvPr>
        </p:nvSpPr>
        <p:spPr/>
        <p:txBody>
          <a:bodyPr/>
          <a:lstStyle/>
          <a:p>
            <a:r>
              <a:rPr lang="en-US" dirty="0">
                <a:solidFill>
                  <a:schemeClr val="tx1"/>
                </a:solidFill>
              </a:rPr>
              <a:t>Prepared by Dr. Fawzi Albalooshi</a:t>
            </a:r>
            <a:endParaRPr lang="en-GB" dirty="0">
              <a:solidFill>
                <a:schemeClr val="tx1"/>
              </a:solidFill>
            </a:endParaRPr>
          </a:p>
        </p:txBody>
      </p:sp>
    </p:spTree>
    <p:extLst>
      <p:ext uri="{BB962C8B-B14F-4D97-AF65-F5344CB8AC3E}">
        <p14:creationId xmlns:p14="http://schemas.microsoft.com/office/powerpoint/2010/main" val="230952312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2B1CF96-3DBD-2C1C-C3AA-E40AEF9DAABA}"/>
              </a:ext>
            </a:extLst>
          </p:cNvPr>
          <p:cNvSpPr>
            <a:spLocks noGrp="1"/>
          </p:cNvSpPr>
          <p:nvPr>
            <p:ph type="title"/>
          </p:nvPr>
        </p:nvSpPr>
        <p:spPr>
          <a:xfrm>
            <a:off x="838200" y="365125"/>
            <a:ext cx="10515600" cy="1325563"/>
          </a:xfrm>
        </p:spPr>
        <p:txBody>
          <a:bodyPr>
            <a:normAutofit fontScale="90000"/>
          </a:bodyPr>
          <a:lstStyle/>
          <a:p>
            <a:r>
              <a:rPr lang="en-US" sz="4800" b="1" dirty="0">
                <a:latin typeface="Calibri" panose="020F0502020204030204" pitchFamily="34" charset="0"/>
                <a:ea typeface="Calibri" panose="020F0502020204030204" pitchFamily="34" charset="0"/>
                <a:cs typeface="Arial" panose="020B0604020202020204" pitchFamily="34" charset="0"/>
              </a:rPr>
              <a:t>Enable On-demand Creation of Dev, Test, and Production Environments </a:t>
            </a:r>
            <a:endParaRPr lang="en-GB" sz="4800" b="1" dirty="0">
              <a:latin typeface="Calibri" panose="020F0502020204030204" pitchFamily="34" charset="0"/>
              <a:ea typeface="Calibri" panose="020F0502020204030204" pitchFamily="34" charset="0"/>
              <a:cs typeface="Arial" panose="020B0604020202020204" pitchFamily="34" charset="0"/>
            </a:endParaRPr>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C0A0DA03-8DCB-6C12-0FDB-B85BAA7CAAC3}"/>
              </a:ext>
            </a:extLst>
          </p:cNvPr>
          <p:cNvSpPr>
            <a:spLocks noGrp="1"/>
          </p:cNvSpPr>
          <p:nvPr>
            <p:ph idx="1"/>
          </p:nvPr>
        </p:nvSpPr>
        <p:spPr>
          <a:xfrm>
            <a:off x="669036" y="1896726"/>
            <a:ext cx="10853928" cy="4251960"/>
          </a:xfrm>
        </p:spPr>
        <p:txBody>
          <a:bodyPr>
            <a:normAutofit/>
          </a:bodyPr>
          <a:lstStyle/>
          <a:p>
            <a:pPr marR="0" indent="0" algn="just">
              <a:lnSpc>
                <a:spcPct val="107000"/>
              </a:lnSpc>
              <a:spcBef>
                <a:spcPts val="0"/>
              </a:spcBef>
              <a:spcAft>
                <a:spcPts val="800"/>
              </a:spcAft>
              <a:buNone/>
            </a:pPr>
            <a:r>
              <a:rPr lang="en-GB" sz="2400" b="1" kern="100" dirty="0">
                <a:effectLst/>
                <a:latin typeface="Calibri" panose="020F0502020204030204" pitchFamily="34" charset="0"/>
                <a:ea typeface="Calibri" panose="020F0502020204030204" pitchFamily="34" charset="0"/>
                <a:cs typeface="Arial" panose="020B0604020202020204" pitchFamily="34" charset="0"/>
              </a:rPr>
              <a:t>Operations </a:t>
            </a:r>
            <a:r>
              <a:rPr lang="en-GB" sz="2400" kern="100" dirty="0">
                <a:effectLst/>
                <a:latin typeface="Calibri" panose="020F0502020204030204" pitchFamily="34" charset="0"/>
                <a:ea typeface="Calibri" panose="020F0502020204030204" pitchFamily="34" charset="0"/>
                <a:cs typeface="Arial" panose="020B0604020202020204" pitchFamily="34" charset="0"/>
              </a:rPr>
              <a:t>benefit from this capability to create new environments quickly because automation of the environment creation process enforces consistency and reduces tedious, error-prone manual work. Furthermore, </a:t>
            </a:r>
            <a:r>
              <a:rPr lang="en-GB" sz="2400" b="1" kern="100" dirty="0">
                <a:effectLst/>
                <a:latin typeface="Calibri" panose="020F0502020204030204" pitchFamily="34" charset="0"/>
                <a:ea typeface="Calibri" panose="020F0502020204030204" pitchFamily="34" charset="0"/>
                <a:cs typeface="Arial" panose="020B0604020202020204" pitchFamily="34" charset="0"/>
              </a:rPr>
              <a:t>Development</a:t>
            </a:r>
            <a:r>
              <a:rPr lang="en-GB" sz="2400" kern="100" dirty="0">
                <a:effectLst/>
                <a:latin typeface="Calibri" panose="020F0502020204030204" pitchFamily="34" charset="0"/>
                <a:ea typeface="Calibri" panose="020F0502020204030204" pitchFamily="34" charset="0"/>
                <a:cs typeface="Arial" panose="020B0604020202020204" pitchFamily="34" charset="0"/>
              </a:rPr>
              <a:t> benefits by being able to reproduce all the necessary parts of the production environment to build, run, and test their code on their workstations.</a:t>
            </a:r>
          </a:p>
          <a:p>
            <a:pPr marR="0" indent="0" algn="just">
              <a:lnSpc>
                <a:spcPct val="107000"/>
              </a:lnSpc>
              <a:spcBef>
                <a:spcPts val="0"/>
              </a:spcBef>
              <a:spcAft>
                <a:spcPts val="800"/>
              </a:spcAft>
              <a:buNone/>
            </a:pPr>
            <a:r>
              <a:rPr lang="en-GB" sz="2400" kern="100" dirty="0">
                <a:effectLst/>
                <a:latin typeface="Calibri" panose="020F0502020204030204" pitchFamily="34" charset="0"/>
                <a:ea typeface="Calibri" panose="020F0502020204030204" pitchFamily="34" charset="0"/>
                <a:cs typeface="Arial" panose="020B0604020202020204" pitchFamily="34" charset="0"/>
              </a:rPr>
              <a:t>By providing developers with an environment, they fully control, we enable them to quickly reproduce, diagnose, and fix defects, safely isolated from production services and other shared resources. They can also experiment with changes to environments, as well as to the infrastructure code that creates, further creating shared knowledge between </a:t>
            </a:r>
            <a:r>
              <a:rPr lang="en-GB" sz="2400" b="1" kern="100" dirty="0">
                <a:effectLst/>
                <a:latin typeface="Calibri" panose="020F0502020204030204" pitchFamily="34" charset="0"/>
                <a:ea typeface="Calibri" panose="020F0502020204030204" pitchFamily="34" charset="0"/>
                <a:cs typeface="Arial" panose="020B0604020202020204" pitchFamily="34" charset="0"/>
              </a:rPr>
              <a:t>Development </a:t>
            </a:r>
            <a:r>
              <a:rPr lang="en-GB" sz="2400" kern="100" dirty="0">
                <a:effectLst/>
                <a:latin typeface="Calibri" panose="020F0502020204030204" pitchFamily="34" charset="0"/>
                <a:ea typeface="Calibri" panose="020F0502020204030204" pitchFamily="34" charset="0"/>
                <a:cs typeface="Arial" panose="020B0604020202020204" pitchFamily="34" charset="0"/>
              </a:rPr>
              <a:t>and </a:t>
            </a:r>
            <a:r>
              <a:rPr lang="en-GB" sz="2400" b="1" kern="100" dirty="0">
                <a:effectLst/>
                <a:latin typeface="Calibri" panose="020F0502020204030204" pitchFamily="34" charset="0"/>
                <a:ea typeface="Calibri" panose="020F0502020204030204" pitchFamily="34" charset="0"/>
                <a:cs typeface="Arial" panose="020B0604020202020204" pitchFamily="34" charset="0"/>
              </a:rPr>
              <a:t>Operations</a:t>
            </a:r>
            <a:r>
              <a:rPr lang="en-GB" sz="2400" kern="100" dirty="0">
                <a:effectLst/>
                <a:latin typeface="Calibri" panose="020F0502020204030204" pitchFamily="34" charset="0"/>
                <a:ea typeface="Calibri" panose="020F0502020204030204" pitchFamily="34" charset="0"/>
                <a:cs typeface="Arial" panose="020B0604020202020204" pitchFamily="34" charset="0"/>
              </a:rPr>
              <a:t>.</a:t>
            </a:r>
          </a:p>
          <a:p>
            <a:pPr marR="0" indent="0" algn="just">
              <a:lnSpc>
                <a:spcPct val="107000"/>
              </a:lnSpc>
              <a:spcBef>
                <a:spcPts val="0"/>
              </a:spcBef>
              <a:spcAft>
                <a:spcPts val="800"/>
              </a:spcAft>
              <a:buNone/>
            </a:pPr>
            <a:endParaRPr lang="en-GB" sz="2400" kern="100" dirty="0">
              <a:effectLst/>
              <a:latin typeface="Calibri" panose="020F0502020204030204" pitchFamily="34" charset="0"/>
              <a:ea typeface="Calibri" panose="020F0502020204030204" pitchFamily="34" charset="0"/>
              <a:cs typeface="Arial" panose="020B0604020202020204" pitchFamily="34" charset="0"/>
            </a:endParaRPr>
          </a:p>
          <a:p>
            <a:pPr marL="0" indent="0" algn="just">
              <a:buNone/>
            </a:pPr>
            <a:endParaRPr lang="en-US" sz="2200" dirty="0"/>
          </a:p>
        </p:txBody>
      </p:sp>
      <p:sp>
        <p:nvSpPr>
          <p:cNvPr id="4" name="Footer Placeholder 3">
            <a:extLst>
              <a:ext uri="{FF2B5EF4-FFF2-40B4-BE49-F238E27FC236}">
                <a16:creationId xmlns:a16="http://schemas.microsoft.com/office/drawing/2014/main" id="{57E5FE26-AE07-C555-F467-1F1CD413CFAA}"/>
              </a:ext>
            </a:extLst>
          </p:cNvPr>
          <p:cNvSpPr>
            <a:spLocks noGrp="1"/>
          </p:cNvSpPr>
          <p:nvPr>
            <p:ph type="ftr" sz="quarter" idx="11"/>
          </p:nvPr>
        </p:nvSpPr>
        <p:spPr/>
        <p:txBody>
          <a:bodyPr/>
          <a:lstStyle/>
          <a:p>
            <a:r>
              <a:rPr lang="en-US" dirty="0">
                <a:solidFill>
                  <a:schemeClr val="tx1"/>
                </a:solidFill>
              </a:rPr>
              <a:t>Prepared by Dr. Fawzi Albalooshi</a:t>
            </a:r>
            <a:endParaRPr lang="en-GB" dirty="0">
              <a:solidFill>
                <a:schemeClr val="tx1"/>
              </a:solidFill>
            </a:endParaRPr>
          </a:p>
        </p:txBody>
      </p:sp>
    </p:spTree>
    <p:extLst>
      <p:ext uri="{BB962C8B-B14F-4D97-AF65-F5344CB8AC3E}">
        <p14:creationId xmlns:p14="http://schemas.microsoft.com/office/powerpoint/2010/main" val="165054249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2B1CF96-3DBD-2C1C-C3AA-E40AEF9DAABA}"/>
              </a:ext>
            </a:extLst>
          </p:cNvPr>
          <p:cNvSpPr>
            <a:spLocks noGrp="1"/>
          </p:cNvSpPr>
          <p:nvPr>
            <p:ph type="title"/>
          </p:nvPr>
        </p:nvSpPr>
        <p:spPr>
          <a:xfrm>
            <a:off x="838200" y="365125"/>
            <a:ext cx="10515600" cy="1325563"/>
          </a:xfrm>
        </p:spPr>
        <p:txBody>
          <a:bodyPr>
            <a:normAutofit fontScale="90000"/>
          </a:bodyPr>
          <a:lstStyle/>
          <a:p>
            <a:pPr marL="0" marR="0">
              <a:lnSpc>
                <a:spcPct val="107000"/>
              </a:lnSpc>
              <a:spcBef>
                <a:spcPts val="0"/>
              </a:spcBef>
              <a:spcAft>
                <a:spcPts val="800"/>
              </a:spcAft>
            </a:pPr>
            <a:r>
              <a:rPr lang="en-GB" sz="4800" b="1" kern="100" dirty="0">
                <a:effectLst/>
                <a:latin typeface="Calibri" panose="020F0502020204030204" pitchFamily="34" charset="0"/>
                <a:ea typeface="Calibri" panose="020F0502020204030204" pitchFamily="34" charset="0"/>
                <a:cs typeface="Arial" panose="020B0604020202020204" pitchFamily="34" charset="0"/>
              </a:rPr>
              <a:t>Create Our Single Repository of Truth for the Entire System</a:t>
            </a:r>
            <a:endParaRPr lang="en-GB" sz="4800" kern="100" dirty="0">
              <a:effectLst/>
              <a:latin typeface="Calibri" panose="020F0502020204030204" pitchFamily="34" charset="0"/>
              <a:ea typeface="Calibri" panose="020F0502020204030204" pitchFamily="34" charset="0"/>
              <a:cs typeface="Arial" panose="020B0604020202020204" pitchFamily="34" charset="0"/>
            </a:endParaRPr>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C0A0DA03-8DCB-6C12-0FDB-B85BAA7CAAC3}"/>
              </a:ext>
            </a:extLst>
          </p:cNvPr>
          <p:cNvSpPr>
            <a:spLocks noGrp="1"/>
          </p:cNvSpPr>
          <p:nvPr>
            <p:ph idx="1"/>
          </p:nvPr>
        </p:nvSpPr>
        <p:spPr>
          <a:xfrm>
            <a:off x="667512" y="1863675"/>
            <a:ext cx="10853928" cy="4251960"/>
          </a:xfrm>
        </p:spPr>
        <p:txBody>
          <a:bodyPr>
            <a:normAutofit/>
          </a:bodyPr>
          <a:lstStyle/>
          <a:p>
            <a:pPr marR="0" indent="0" algn="just">
              <a:lnSpc>
                <a:spcPct val="107000"/>
              </a:lnSpc>
              <a:spcBef>
                <a:spcPts val="0"/>
              </a:spcBef>
              <a:spcAft>
                <a:spcPts val="800"/>
              </a:spcAft>
              <a:buNone/>
            </a:pPr>
            <a:r>
              <a:rPr lang="en-GB" sz="2400" kern="100" dirty="0">
                <a:effectLst/>
                <a:latin typeface="Calibri" panose="020F0502020204030204" pitchFamily="34" charset="0"/>
                <a:ea typeface="Calibri" panose="020F0502020204030204" pitchFamily="34" charset="0"/>
                <a:cs typeface="Arial" panose="020B0604020202020204" pitchFamily="34" charset="0"/>
              </a:rPr>
              <a:t>We must ensure that all parts of our software system can be configured and managed using a source of truth that is maintained in version control which has become a mandatory practice of individual developers and development teams.</a:t>
            </a:r>
          </a:p>
          <a:p>
            <a:pPr marR="0" indent="0" algn="just">
              <a:lnSpc>
                <a:spcPct val="107000"/>
              </a:lnSpc>
              <a:spcBef>
                <a:spcPts val="0"/>
              </a:spcBef>
              <a:spcAft>
                <a:spcPts val="800"/>
              </a:spcAft>
              <a:buNone/>
            </a:pPr>
            <a:r>
              <a:rPr lang="en-GB" sz="2400" dirty="0">
                <a:effectLst/>
                <a:latin typeface="Calibri" panose="020F0502020204030204" pitchFamily="34" charset="0"/>
                <a:ea typeface="Calibri" panose="020F0502020204030204" pitchFamily="34" charset="0"/>
                <a:cs typeface="Arial" panose="020B0604020202020204" pitchFamily="34" charset="0"/>
              </a:rPr>
              <a:t>When </a:t>
            </a:r>
            <a:r>
              <a:rPr lang="en-GB" sz="2400" u="sng" dirty="0">
                <a:effectLst/>
                <a:latin typeface="Calibri" panose="020F0502020204030204" pitchFamily="34" charset="0"/>
                <a:ea typeface="Calibri" panose="020F0502020204030204" pitchFamily="34" charset="0"/>
                <a:cs typeface="Arial" panose="020B0604020202020204" pitchFamily="34" charset="0"/>
              </a:rPr>
              <a:t>developers put all their application source files and configurations in version control</a:t>
            </a:r>
            <a:r>
              <a:rPr lang="en-GB" sz="2400" dirty="0">
                <a:effectLst/>
                <a:latin typeface="Calibri" panose="020F0502020204030204" pitchFamily="34" charset="0"/>
                <a:ea typeface="Calibri" panose="020F0502020204030204" pitchFamily="34" charset="0"/>
                <a:cs typeface="Arial" panose="020B0604020202020204" pitchFamily="34" charset="0"/>
              </a:rPr>
              <a:t>, it becomes the single repository of the truth that contains the precise intended state of the system. However, because delivering value to the customer requires both our code and the environments they run in, </a:t>
            </a:r>
            <a:r>
              <a:rPr lang="en-GB" sz="2400" u="sng" dirty="0">
                <a:effectLst/>
                <a:latin typeface="Calibri" panose="020F0502020204030204" pitchFamily="34" charset="0"/>
                <a:ea typeface="Calibri" panose="020F0502020204030204" pitchFamily="34" charset="0"/>
                <a:cs typeface="Arial" panose="020B0604020202020204" pitchFamily="34" charset="0"/>
              </a:rPr>
              <a:t>we need our environments in version control as well</a:t>
            </a:r>
            <a:r>
              <a:rPr lang="en-GB" sz="2400" dirty="0">
                <a:effectLst/>
                <a:latin typeface="Calibri" panose="020F0502020204030204" pitchFamily="34" charset="0"/>
                <a:ea typeface="Calibri" panose="020F0502020204030204" pitchFamily="34" charset="0"/>
                <a:cs typeface="Arial" panose="020B0604020202020204" pitchFamily="34" charset="0"/>
              </a:rPr>
              <a:t>. In other words, version control is for everyone in our value team, including QA, Operations, Infosec, as well as Development. </a:t>
            </a:r>
            <a:endParaRPr lang="en-GB" sz="2400" kern="100" dirty="0">
              <a:effectLst/>
              <a:latin typeface="Calibri" panose="020F0502020204030204" pitchFamily="34" charset="0"/>
              <a:ea typeface="Calibri" panose="020F0502020204030204" pitchFamily="34" charset="0"/>
              <a:cs typeface="Arial" panose="020B0604020202020204" pitchFamily="34" charset="0"/>
            </a:endParaRPr>
          </a:p>
          <a:p>
            <a:pPr marL="0" indent="0" algn="just">
              <a:buNone/>
            </a:pPr>
            <a:endParaRPr lang="en-US" sz="2200" dirty="0"/>
          </a:p>
        </p:txBody>
      </p:sp>
      <p:sp>
        <p:nvSpPr>
          <p:cNvPr id="4" name="Footer Placeholder 3">
            <a:extLst>
              <a:ext uri="{FF2B5EF4-FFF2-40B4-BE49-F238E27FC236}">
                <a16:creationId xmlns:a16="http://schemas.microsoft.com/office/drawing/2014/main" id="{C18840F8-506D-F79A-FE62-1E7BBD552EF6}"/>
              </a:ext>
            </a:extLst>
          </p:cNvPr>
          <p:cNvSpPr>
            <a:spLocks noGrp="1"/>
          </p:cNvSpPr>
          <p:nvPr>
            <p:ph type="ftr" sz="quarter" idx="11"/>
          </p:nvPr>
        </p:nvSpPr>
        <p:spPr/>
        <p:txBody>
          <a:bodyPr/>
          <a:lstStyle/>
          <a:p>
            <a:r>
              <a:rPr lang="en-US" dirty="0">
                <a:solidFill>
                  <a:schemeClr val="tx1"/>
                </a:solidFill>
              </a:rPr>
              <a:t>Prepared by Dr. Fawzi Albalooshi</a:t>
            </a:r>
            <a:endParaRPr lang="en-GB" dirty="0">
              <a:solidFill>
                <a:schemeClr val="tx1"/>
              </a:solidFill>
            </a:endParaRPr>
          </a:p>
        </p:txBody>
      </p:sp>
    </p:spTree>
    <p:extLst>
      <p:ext uri="{BB962C8B-B14F-4D97-AF65-F5344CB8AC3E}">
        <p14:creationId xmlns:p14="http://schemas.microsoft.com/office/powerpoint/2010/main" val="206646180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A39DF11-785E-7CB4-850D-3063E6A71FEB}"/>
            </a:ext>
          </a:extLst>
        </p:cNvPr>
        <p:cNvGrpSpPr/>
        <p:nvPr/>
      </p:nvGrpSpPr>
      <p:grpSpPr>
        <a:xfrm>
          <a:off x="0" y="0"/>
          <a:ext cx="0" cy="0"/>
          <a:chOff x="0" y="0"/>
          <a:chExt cx="0" cy="0"/>
        </a:xfrm>
      </p:grpSpPr>
      <p:sp useBgFill="1">
        <p:nvSpPr>
          <p:cNvPr id="1033" name="Rectangle 1032">
            <a:extLst>
              <a:ext uri="{FF2B5EF4-FFF2-40B4-BE49-F238E27FC236}">
                <a16:creationId xmlns:a16="http://schemas.microsoft.com/office/drawing/2014/main" id="{53F29798-D584-4792-9B62-3F5F5C36D6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Picture 2" descr="Tutorial Menggunakan GitHub Desktop | GitHub Desktop 101 - YouTube">
            <a:extLst>
              <a:ext uri="{FF2B5EF4-FFF2-40B4-BE49-F238E27FC236}">
                <a16:creationId xmlns:a16="http://schemas.microsoft.com/office/drawing/2014/main" id="{6FC3320A-1EA3-AEF0-8FE6-0937631616EE}"/>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546225" y="1844675"/>
            <a:ext cx="5408613" cy="4449763"/>
          </a:xfrm>
          <a:prstGeom prst="rect">
            <a:avLst/>
          </a:prstGeom>
          <a:extLst>
            <a:ext uri="{909E8E84-426E-40DD-AFC4-6F175D3DCCD1}">
              <a14:hiddenFill xmlns:a14="http://schemas.microsoft.com/office/drawing/2010/main">
                <a:solidFill>
                  <a:srgbClr val="FFFFFF"/>
                </a:solidFill>
              </a14:hiddenFill>
            </a:ext>
          </a:extLst>
        </p:spPr>
      </p:pic>
      <p:pic>
        <p:nvPicPr>
          <p:cNvPr id="1028" name="Picture 4" descr="Concurrent development by multiple developers in integrated factory ...">
            <a:extLst>
              <a:ext uri="{FF2B5EF4-FFF2-40B4-BE49-F238E27FC236}">
                <a16:creationId xmlns:a16="http://schemas.microsoft.com/office/drawing/2014/main" id="{73DF2B06-43DB-54AB-B83C-A7E3F28D7C2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16750" y="1844675"/>
            <a:ext cx="3627438" cy="4449763"/>
          </a:xfrm>
          <a:prstGeom prst="rect">
            <a:avLst/>
          </a:prstGeom>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49F88207-8788-2414-E0E2-67146BCD20DE}"/>
              </a:ext>
            </a:extLst>
          </p:cNvPr>
          <p:cNvSpPr>
            <a:spLocks noGrp="1"/>
          </p:cNvSpPr>
          <p:nvPr>
            <p:ph type="title"/>
          </p:nvPr>
        </p:nvSpPr>
        <p:spPr>
          <a:xfrm>
            <a:off x="838200" y="184805"/>
            <a:ext cx="10515600" cy="1505883"/>
          </a:xfrm>
        </p:spPr>
        <p:txBody>
          <a:bodyPr vert="horz" lIns="91440" tIns="45720" rIns="91440" bIns="45720" rtlCol="0" anchor="ctr">
            <a:normAutofit/>
          </a:bodyPr>
          <a:lstStyle/>
          <a:p>
            <a:pPr marL="0" marR="0">
              <a:spcAft>
                <a:spcPts val="800"/>
              </a:spcAft>
            </a:pPr>
            <a:r>
              <a:rPr lang="en-US" sz="4800" b="1" kern="1200">
                <a:solidFill>
                  <a:schemeClr val="tx1"/>
                </a:solidFill>
                <a:effectLst/>
                <a:latin typeface="+mj-lt"/>
                <a:ea typeface="+mj-ea"/>
                <a:cs typeface="+mj-cs"/>
              </a:rPr>
              <a:t>Create Our Single Repository of Truth for the Entire System</a:t>
            </a:r>
            <a:endParaRPr lang="en-US" sz="4800" kern="1200">
              <a:solidFill>
                <a:schemeClr val="tx1"/>
              </a:solidFill>
              <a:effectLst/>
              <a:latin typeface="+mj-lt"/>
              <a:ea typeface="+mj-ea"/>
              <a:cs typeface="+mj-cs"/>
            </a:endParaRPr>
          </a:p>
        </p:txBody>
      </p:sp>
      <p:sp>
        <p:nvSpPr>
          <p:cNvPr id="3" name="Footer Placeholder 2">
            <a:extLst>
              <a:ext uri="{FF2B5EF4-FFF2-40B4-BE49-F238E27FC236}">
                <a16:creationId xmlns:a16="http://schemas.microsoft.com/office/drawing/2014/main" id="{7152B432-A614-1DB0-A41E-8F8A5FA5CF06}"/>
              </a:ext>
            </a:extLst>
          </p:cNvPr>
          <p:cNvSpPr>
            <a:spLocks noGrp="1"/>
          </p:cNvSpPr>
          <p:nvPr>
            <p:ph type="ftr" sz="quarter" idx="11"/>
          </p:nvPr>
        </p:nvSpPr>
        <p:spPr/>
        <p:txBody>
          <a:bodyPr/>
          <a:lstStyle/>
          <a:p>
            <a:r>
              <a:rPr lang="en-US" dirty="0">
                <a:solidFill>
                  <a:schemeClr val="tx1"/>
                </a:solidFill>
              </a:rPr>
              <a:t>Prepared by Dr. Fawzi Albalooshi</a:t>
            </a:r>
            <a:endParaRPr lang="en-GB" dirty="0">
              <a:solidFill>
                <a:schemeClr val="tx1"/>
              </a:solidFill>
            </a:endParaRPr>
          </a:p>
        </p:txBody>
      </p:sp>
    </p:spTree>
    <p:extLst>
      <p:ext uri="{BB962C8B-B14F-4D97-AF65-F5344CB8AC3E}">
        <p14:creationId xmlns:p14="http://schemas.microsoft.com/office/powerpoint/2010/main" val="176086320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2B1CF96-3DBD-2C1C-C3AA-E40AEF9DAABA}"/>
              </a:ext>
            </a:extLst>
          </p:cNvPr>
          <p:cNvSpPr>
            <a:spLocks noGrp="1"/>
          </p:cNvSpPr>
          <p:nvPr>
            <p:ph type="title"/>
          </p:nvPr>
        </p:nvSpPr>
        <p:spPr>
          <a:xfrm>
            <a:off x="838200" y="365125"/>
            <a:ext cx="10515600" cy="1325563"/>
          </a:xfrm>
        </p:spPr>
        <p:txBody>
          <a:bodyPr>
            <a:normAutofit fontScale="90000"/>
          </a:bodyPr>
          <a:lstStyle/>
          <a:p>
            <a:pPr marL="0" marR="0">
              <a:lnSpc>
                <a:spcPct val="107000"/>
              </a:lnSpc>
              <a:spcBef>
                <a:spcPts val="0"/>
              </a:spcBef>
              <a:spcAft>
                <a:spcPts val="800"/>
              </a:spcAft>
            </a:pPr>
            <a:r>
              <a:rPr lang="en-GB" sz="4800" b="1" kern="100" dirty="0">
                <a:effectLst/>
                <a:latin typeface="Calibri" panose="020F0502020204030204" pitchFamily="34" charset="0"/>
                <a:ea typeface="Calibri" panose="020F0502020204030204" pitchFamily="34" charset="0"/>
                <a:cs typeface="Arial" panose="020B0604020202020204" pitchFamily="34" charset="0"/>
              </a:rPr>
              <a:t>Create Our Single Repository of Truth for the Entire System</a:t>
            </a:r>
            <a:endParaRPr lang="en-GB" sz="4800" kern="100" dirty="0">
              <a:effectLst/>
              <a:latin typeface="Calibri" panose="020F0502020204030204" pitchFamily="34" charset="0"/>
              <a:ea typeface="Calibri" panose="020F0502020204030204" pitchFamily="34" charset="0"/>
              <a:cs typeface="Arial" panose="020B0604020202020204" pitchFamily="34" charset="0"/>
            </a:endParaRPr>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C0A0DA03-8DCB-6C12-0FDB-B85BAA7CAAC3}"/>
              </a:ext>
            </a:extLst>
          </p:cNvPr>
          <p:cNvSpPr>
            <a:spLocks noGrp="1"/>
          </p:cNvSpPr>
          <p:nvPr>
            <p:ph idx="1"/>
          </p:nvPr>
        </p:nvSpPr>
        <p:spPr>
          <a:xfrm>
            <a:off x="669036" y="1896726"/>
            <a:ext cx="10853928" cy="4251960"/>
          </a:xfrm>
        </p:spPr>
        <p:txBody>
          <a:bodyPr>
            <a:normAutofit/>
          </a:bodyPr>
          <a:lstStyle/>
          <a:p>
            <a:pPr marL="0" indent="0" algn="just">
              <a:buNone/>
            </a:pPr>
            <a:r>
              <a:rPr lang="en-US" sz="2200" dirty="0"/>
              <a:t>To ensure that we can restore production service repeatedly and predictably (and, ideally, quickly) even when catastrophic events occur, we must check in the following assets to our shared version control repository: </a:t>
            </a:r>
          </a:p>
          <a:p>
            <a:pPr lvl="1" algn="just"/>
            <a:r>
              <a:rPr lang="en-US" sz="1800" dirty="0"/>
              <a:t>All application code and dependencies.</a:t>
            </a:r>
          </a:p>
          <a:p>
            <a:pPr lvl="1" algn="just"/>
            <a:r>
              <a:rPr lang="en-US" sz="1800" dirty="0"/>
              <a:t>Any script used to create database schemas, application reference data, etc.</a:t>
            </a:r>
          </a:p>
          <a:p>
            <a:pPr lvl="1" algn="just"/>
            <a:r>
              <a:rPr lang="en-US" sz="1800" dirty="0"/>
              <a:t>All the environment creation tools and artifacts described in the previous step.</a:t>
            </a:r>
          </a:p>
          <a:p>
            <a:pPr lvl="1" algn="just"/>
            <a:r>
              <a:rPr lang="en-US" sz="1800" dirty="0"/>
              <a:t>Any file used to create containers.</a:t>
            </a:r>
          </a:p>
          <a:p>
            <a:pPr lvl="1" algn="just"/>
            <a:r>
              <a:rPr lang="en-US" sz="1800" dirty="0"/>
              <a:t>All supporting automated tests and any manual test scripts.</a:t>
            </a:r>
          </a:p>
          <a:p>
            <a:pPr lvl="1" algn="just"/>
            <a:r>
              <a:rPr lang="en-US" sz="1800" dirty="0"/>
              <a:t>Any script that supports code packaging, deployment, database migration, and environment provisioning.</a:t>
            </a:r>
          </a:p>
          <a:p>
            <a:pPr lvl="1" algn="just"/>
            <a:r>
              <a:rPr lang="en-US" sz="1800" dirty="0"/>
              <a:t>All project artifacts.</a:t>
            </a:r>
          </a:p>
          <a:p>
            <a:pPr lvl="1" algn="just"/>
            <a:r>
              <a:rPr lang="en-US" sz="1800" dirty="0"/>
              <a:t>All cloud configuration files.</a:t>
            </a:r>
          </a:p>
          <a:p>
            <a:pPr lvl="1" algn="just"/>
            <a:r>
              <a:rPr lang="en-US" sz="1800" dirty="0"/>
              <a:t>Any other script or configuration information required to create the infrastructure that supports multiple services</a:t>
            </a:r>
          </a:p>
          <a:p>
            <a:pPr marL="0" indent="0" algn="just">
              <a:buNone/>
            </a:pPr>
            <a:endParaRPr lang="en-US" sz="2200" dirty="0"/>
          </a:p>
        </p:txBody>
      </p:sp>
      <p:sp>
        <p:nvSpPr>
          <p:cNvPr id="4" name="Footer Placeholder 3">
            <a:extLst>
              <a:ext uri="{FF2B5EF4-FFF2-40B4-BE49-F238E27FC236}">
                <a16:creationId xmlns:a16="http://schemas.microsoft.com/office/drawing/2014/main" id="{A93E0C98-491F-EB14-6437-1102C993A53A}"/>
              </a:ext>
            </a:extLst>
          </p:cNvPr>
          <p:cNvSpPr>
            <a:spLocks noGrp="1"/>
          </p:cNvSpPr>
          <p:nvPr>
            <p:ph type="ftr" sz="quarter" idx="11"/>
          </p:nvPr>
        </p:nvSpPr>
        <p:spPr/>
        <p:txBody>
          <a:bodyPr/>
          <a:lstStyle/>
          <a:p>
            <a:r>
              <a:rPr lang="en-US" dirty="0">
                <a:solidFill>
                  <a:schemeClr val="tx1"/>
                </a:solidFill>
              </a:rPr>
              <a:t>Prepared by Dr. Fawzi Albalooshi</a:t>
            </a:r>
            <a:endParaRPr lang="en-GB" dirty="0">
              <a:solidFill>
                <a:schemeClr val="tx1"/>
              </a:solidFill>
            </a:endParaRPr>
          </a:p>
        </p:txBody>
      </p:sp>
    </p:spTree>
    <p:extLst>
      <p:ext uri="{BB962C8B-B14F-4D97-AF65-F5344CB8AC3E}">
        <p14:creationId xmlns:p14="http://schemas.microsoft.com/office/powerpoint/2010/main" val="113496646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2B1CF96-3DBD-2C1C-C3AA-E40AEF9DAABA}"/>
              </a:ext>
            </a:extLst>
          </p:cNvPr>
          <p:cNvSpPr>
            <a:spLocks noGrp="1"/>
          </p:cNvSpPr>
          <p:nvPr>
            <p:ph type="title"/>
          </p:nvPr>
        </p:nvSpPr>
        <p:spPr>
          <a:xfrm>
            <a:off x="838200" y="365125"/>
            <a:ext cx="10515600" cy="1325563"/>
          </a:xfrm>
        </p:spPr>
        <p:txBody>
          <a:bodyPr>
            <a:normAutofit fontScale="90000"/>
          </a:bodyPr>
          <a:lstStyle/>
          <a:p>
            <a:pPr marL="0" marR="0">
              <a:lnSpc>
                <a:spcPct val="107000"/>
              </a:lnSpc>
              <a:spcBef>
                <a:spcPts val="0"/>
              </a:spcBef>
              <a:spcAft>
                <a:spcPts val="800"/>
              </a:spcAft>
            </a:pPr>
            <a:r>
              <a:rPr lang="en-GB" sz="4800" b="1" kern="100" dirty="0">
                <a:effectLst/>
                <a:latin typeface="Calibri" panose="020F0502020204030204" pitchFamily="34" charset="0"/>
                <a:ea typeface="Calibri" panose="020F0502020204030204" pitchFamily="34" charset="0"/>
                <a:cs typeface="Arial" panose="020B0604020202020204" pitchFamily="34" charset="0"/>
              </a:rPr>
              <a:t>Create Our Single Repository of Truth for the Entire System</a:t>
            </a:r>
            <a:endParaRPr lang="en-GB" sz="4800" kern="100" dirty="0">
              <a:effectLst/>
              <a:latin typeface="Calibri" panose="020F0502020204030204" pitchFamily="34" charset="0"/>
              <a:ea typeface="Calibri" panose="020F0502020204030204" pitchFamily="34" charset="0"/>
              <a:cs typeface="Arial" panose="020B0604020202020204" pitchFamily="34" charset="0"/>
            </a:endParaRPr>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C0A0DA03-8DCB-6C12-0FDB-B85BAA7CAAC3}"/>
              </a:ext>
            </a:extLst>
          </p:cNvPr>
          <p:cNvSpPr>
            <a:spLocks noGrp="1"/>
          </p:cNvSpPr>
          <p:nvPr>
            <p:ph idx="1"/>
          </p:nvPr>
        </p:nvSpPr>
        <p:spPr>
          <a:xfrm>
            <a:off x="669036" y="1896726"/>
            <a:ext cx="10853928" cy="4122334"/>
          </a:xfrm>
        </p:spPr>
        <p:txBody>
          <a:bodyPr>
            <a:normAutofit/>
          </a:bodyPr>
          <a:lstStyle/>
          <a:p>
            <a:pPr marR="0" indent="0" algn="just">
              <a:lnSpc>
                <a:spcPct val="107000"/>
              </a:lnSpc>
              <a:spcBef>
                <a:spcPts val="0"/>
              </a:spcBef>
              <a:spcAft>
                <a:spcPts val="800"/>
              </a:spcAft>
              <a:buNone/>
            </a:pPr>
            <a:r>
              <a:rPr lang="en-GB" sz="2400" kern="100" dirty="0">
                <a:effectLst/>
                <a:latin typeface="Calibri" panose="020F0502020204030204" pitchFamily="34" charset="0"/>
                <a:ea typeface="Calibri" panose="020F0502020204030204" pitchFamily="34" charset="0"/>
                <a:cs typeface="Arial" panose="020B0604020202020204" pitchFamily="34" charset="0"/>
              </a:rPr>
              <a:t>We may have multiple repositories for different types of objects and services, where they are labeled and tagged alongside our source code. I.e., local, remote, global, subject-based, research-based, national, institutional, database .. etc.</a:t>
            </a:r>
          </a:p>
          <a:p>
            <a:pPr marR="0" indent="0" algn="just">
              <a:lnSpc>
                <a:spcPct val="107000"/>
              </a:lnSpc>
              <a:spcBef>
                <a:spcPts val="0"/>
              </a:spcBef>
              <a:spcAft>
                <a:spcPts val="800"/>
              </a:spcAft>
              <a:buNone/>
            </a:pPr>
            <a:r>
              <a:rPr lang="en-GB" sz="2400" kern="100" dirty="0">
                <a:effectLst/>
                <a:latin typeface="Calibri" panose="020F0502020204030204" pitchFamily="34" charset="0"/>
                <a:ea typeface="Calibri" panose="020F0502020204030204" pitchFamily="34" charset="0"/>
                <a:cs typeface="Arial" panose="020B0604020202020204" pitchFamily="34" charset="0"/>
              </a:rPr>
              <a:t>It is not sufficient to </a:t>
            </a:r>
            <a:r>
              <a:rPr lang="en-US" sz="2400" kern="100" dirty="0">
                <a:effectLst/>
                <a:latin typeface="Calibri" panose="020F0502020204030204" pitchFamily="34" charset="0"/>
                <a:ea typeface="Calibri" panose="020F0502020204030204" pitchFamily="34" charset="0"/>
                <a:cs typeface="Arial" panose="020B0604020202020204" pitchFamily="34" charset="0"/>
              </a:rPr>
              <a:t>re-create the previous state of the production environment; </a:t>
            </a:r>
            <a:r>
              <a:rPr lang="en-US" sz="2400" u="sng" kern="100" dirty="0">
                <a:effectLst/>
                <a:latin typeface="Calibri" panose="020F0502020204030204" pitchFamily="34" charset="0"/>
                <a:ea typeface="Calibri" panose="020F0502020204030204" pitchFamily="34" charset="0"/>
                <a:cs typeface="Arial" panose="020B0604020202020204" pitchFamily="34" charset="0"/>
              </a:rPr>
              <a:t>we must also be able to re-create the entire pre-production</a:t>
            </a:r>
            <a:r>
              <a:rPr lang="en-US" sz="2400" kern="100" dirty="0">
                <a:effectLst/>
                <a:latin typeface="Calibri" panose="020F0502020204030204" pitchFamily="34" charset="0"/>
                <a:ea typeface="Calibri" panose="020F0502020204030204" pitchFamily="34" charset="0"/>
                <a:cs typeface="Arial" panose="020B0604020202020204" pitchFamily="34" charset="0"/>
              </a:rPr>
              <a:t> and build processes</a:t>
            </a:r>
            <a:r>
              <a:rPr lang="en-GB" sz="2400" kern="100" dirty="0">
                <a:effectLst/>
                <a:latin typeface="Calibri" panose="020F0502020204030204" pitchFamily="34" charset="0"/>
                <a:ea typeface="Calibri" panose="020F0502020204030204" pitchFamily="34" charset="0"/>
                <a:cs typeface="Arial" panose="020B0604020202020204" pitchFamily="34" charset="0"/>
              </a:rPr>
              <a:t>, such as the development and test environments.</a:t>
            </a:r>
          </a:p>
          <a:p>
            <a:pPr marR="0" indent="0" algn="just">
              <a:lnSpc>
                <a:spcPct val="107000"/>
              </a:lnSpc>
              <a:spcBef>
                <a:spcPts val="0"/>
              </a:spcBef>
              <a:spcAft>
                <a:spcPts val="800"/>
              </a:spcAft>
              <a:buNone/>
            </a:pPr>
            <a:endParaRPr lang="en-GB" sz="2400" kern="100" dirty="0">
              <a:latin typeface="Calibri" panose="020F0502020204030204" pitchFamily="34" charset="0"/>
              <a:ea typeface="Calibri" panose="020F0502020204030204" pitchFamily="34" charset="0"/>
              <a:cs typeface="Arial" panose="020B0604020202020204" pitchFamily="34" charset="0"/>
            </a:endParaRPr>
          </a:p>
          <a:p>
            <a:pPr marR="0" indent="0" algn="just">
              <a:lnSpc>
                <a:spcPct val="107000"/>
              </a:lnSpc>
              <a:spcBef>
                <a:spcPts val="0"/>
              </a:spcBef>
              <a:spcAft>
                <a:spcPts val="800"/>
              </a:spcAft>
              <a:buNone/>
            </a:pPr>
            <a:r>
              <a:rPr lang="en-GB" sz="2400" kern="100" dirty="0">
                <a:effectLst/>
                <a:latin typeface="Calibri" panose="020F0502020204030204" pitchFamily="34" charset="0"/>
                <a:ea typeface="Calibri" panose="020F0502020204030204" pitchFamily="34" charset="0"/>
                <a:cs typeface="Arial" panose="020B0604020202020204" pitchFamily="34" charset="0"/>
                <a:hlinkClick r:id="rId2"/>
              </a:rPr>
              <a:t>https://youtu.be</a:t>
            </a:r>
            <a:r>
              <a:rPr lang="en-GB" sz="2400" kern="100">
                <a:effectLst/>
                <a:latin typeface="Calibri" panose="020F0502020204030204" pitchFamily="34" charset="0"/>
                <a:ea typeface="Calibri" panose="020F0502020204030204" pitchFamily="34" charset="0"/>
                <a:cs typeface="Arial" panose="020B0604020202020204" pitchFamily="34" charset="0"/>
                <a:hlinkClick r:id="rId2"/>
              </a:rPr>
              <a:t>/IeXhYROClZk</a:t>
            </a:r>
            <a:r>
              <a:rPr lang="en-GB" sz="2400" kern="100">
                <a:effectLst/>
                <a:latin typeface="Calibri" panose="020F0502020204030204" pitchFamily="34" charset="0"/>
                <a:ea typeface="Calibri" panose="020F0502020204030204" pitchFamily="34" charset="0"/>
                <a:cs typeface="Arial" panose="020B0604020202020204" pitchFamily="34" charset="0"/>
              </a:rPr>
              <a:t> </a:t>
            </a:r>
            <a:endParaRPr lang="en-GB" sz="2400" kern="100" dirty="0">
              <a:effectLst/>
              <a:latin typeface="Calibri" panose="020F0502020204030204" pitchFamily="34" charset="0"/>
              <a:ea typeface="Calibri" panose="020F0502020204030204" pitchFamily="34" charset="0"/>
              <a:cs typeface="Arial" panose="020B0604020202020204" pitchFamily="34" charset="0"/>
            </a:endParaRPr>
          </a:p>
          <a:p>
            <a:pPr marL="0" indent="0" algn="just">
              <a:buNone/>
            </a:pPr>
            <a:endParaRPr lang="en-US" sz="2200" dirty="0"/>
          </a:p>
        </p:txBody>
      </p:sp>
      <p:sp>
        <p:nvSpPr>
          <p:cNvPr id="4" name="Footer Placeholder 3">
            <a:extLst>
              <a:ext uri="{FF2B5EF4-FFF2-40B4-BE49-F238E27FC236}">
                <a16:creationId xmlns:a16="http://schemas.microsoft.com/office/drawing/2014/main" id="{CC35861A-E9C6-B65B-2AE5-C3B052C7F9A2}"/>
              </a:ext>
            </a:extLst>
          </p:cNvPr>
          <p:cNvSpPr>
            <a:spLocks noGrp="1"/>
          </p:cNvSpPr>
          <p:nvPr>
            <p:ph type="ftr" sz="quarter" idx="11"/>
          </p:nvPr>
        </p:nvSpPr>
        <p:spPr/>
        <p:txBody>
          <a:bodyPr/>
          <a:lstStyle/>
          <a:p>
            <a:r>
              <a:rPr lang="en-US" dirty="0">
                <a:solidFill>
                  <a:schemeClr val="tx1"/>
                </a:solidFill>
              </a:rPr>
              <a:t>Prepared by Dr. Fawzi Albalooshi</a:t>
            </a:r>
            <a:endParaRPr lang="en-GB" dirty="0">
              <a:solidFill>
                <a:schemeClr val="tx1"/>
              </a:solidFill>
            </a:endParaRPr>
          </a:p>
        </p:txBody>
      </p:sp>
    </p:spTree>
    <p:extLst>
      <p:ext uri="{BB962C8B-B14F-4D97-AF65-F5344CB8AC3E}">
        <p14:creationId xmlns:p14="http://schemas.microsoft.com/office/powerpoint/2010/main" val="165857172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2B1CF96-3DBD-2C1C-C3AA-E40AEF9DAABA}"/>
              </a:ext>
            </a:extLst>
          </p:cNvPr>
          <p:cNvSpPr>
            <a:spLocks noGrp="1"/>
          </p:cNvSpPr>
          <p:nvPr>
            <p:ph type="title"/>
          </p:nvPr>
        </p:nvSpPr>
        <p:spPr>
          <a:xfrm>
            <a:off x="838200" y="365125"/>
            <a:ext cx="10515600" cy="1325563"/>
          </a:xfrm>
        </p:spPr>
        <p:txBody>
          <a:bodyPr>
            <a:normAutofit fontScale="90000"/>
          </a:bodyPr>
          <a:lstStyle/>
          <a:p>
            <a:pPr marL="0" marR="0">
              <a:lnSpc>
                <a:spcPct val="107000"/>
              </a:lnSpc>
              <a:spcBef>
                <a:spcPts val="0"/>
              </a:spcBef>
              <a:spcAft>
                <a:spcPts val="800"/>
              </a:spcAft>
            </a:pPr>
            <a:r>
              <a:rPr lang="en-GB" sz="4800" b="1" kern="100" dirty="0">
                <a:effectLst/>
                <a:latin typeface="Calibri" panose="020F0502020204030204" pitchFamily="34" charset="0"/>
                <a:ea typeface="Calibri" panose="020F0502020204030204" pitchFamily="34" charset="0"/>
                <a:cs typeface="Arial" panose="020B0604020202020204" pitchFamily="34" charset="0"/>
              </a:rPr>
              <a:t>Make Infrastructure Easier to Rebuild Than to Repair</a:t>
            </a:r>
            <a:endParaRPr lang="en-GB" sz="4800" kern="100" dirty="0">
              <a:effectLst/>
              <a:latin typeface="Calibri" panose="020F0502020204030204" pitchFamily="34" charset="0"/>
              <a:ea typeface="Calibri" panose="020F0502020204030204" pitchFamily="34" charset="0"/>
              <a:cs typeface="Arial" panose="020B0604020202020204" pitchFamily="34" charset="0"/>
            </a:endParaRPr>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C0A0DA03-8DCB-6C12-0FDB-B85BAA7CAAC3}"/>
              </a:ext>
            </a:extLst>
          </p:cNvPr>
          <p:cNvSpPr>
            <a:spLocks noGrp="1"/>
          </p:cNvSpPr>
          <p:nvPr>
            <p:ph idx="1"/>
          </p:nvPr>
        </p:nvSpPr>
        <p:spPr>
          <a:xfrm>
            <a:off x="669036" y="1896726"/>
            <a:ext cx="10853928" cy="4251960"/>
          </a:xfrm>
        </p:spPr>
        <p:txBody>
          <a:bodyPr>
            <a:normAutofit/>
          </a:bodyPr>
          <a:lstStyle/>
          <a:p>
            <a:pPr marR="0" indent="0" algn="just">
              <a:lnSpc>
                <a:spcPct val="107000"/>
              </a:lnSpc>
              <a:spcBef>
                <a:spcPts val="0"/>
              </a:spcBef>
              <a:spcAft>
                <a:spcPts val="800"/>
              </a:spcAft>
              <a:buNone/>
            </a:pPr>
            <a:r>
              <a:rPr lang="en-GB" sz="2400" kern="100" dirty="0">
                <a:effectLst/>
                <a:latin typeface="Calibri" panose="020F0502020204030204" pitchFamily="34" charset="0"/>
                <a:ea typeface="Calibri" panose="020F0502020204030204" pitchFamily="34" charset="0"/>
                <a:cs typeface="Arial" panose="020B0604020202020204" pitchFamily="34" charset="0"/>
              </a:rPr>
              <a:t>When we can quickly rebuild and re-create our applications and environments on demand, we can also quickly rebuild them instead of repairing them when things go wrong. </a:t>
            </a:r>
          </a:p>
          <a:p>
            <a:pPr marR="0" indent="0" algn="just">
              <a:lnSpc>
                <a:spcPct val="107000"/>
              </a:lnSpc>
              <a:spcBef>
                <a:spcPts val="0"/>
              </a:spcBef>
              <a:spcAft>
                <a:spcPts val="800"/>
              </a:spcAft>
              <a:buNone/>
            </a:pPr>
            <a:r>
              <a:rPr lang="en-GB" sz="2400" kern="100" dirty="0">
                <a:effectLst/>
                <a:latin typeface="Calibri" panose="020F0502020204030204" pitchFamily="34" charset="0"/>
                <a:ea typeface="Calibri" panose="020F0502020204030204" pitchFamily="34" charset="0"/>
                <a:cs typeface="Arial" panose="020B0604020202020204" pitchFamily="34" charset="0"/>
              </a:rPr>
              <a:t>To ensure consistency of our environments, whenever we make production changes (configuration changes, patching, upgrading, etc.), those changes need to be automatically replicated everywhere in our production and pre-production environments, as well as in any newly created environments. The changes must also be available into version control. </a:t>
            </a:r>
          </a:p>
          <a:p>
            <a:pPr marL="0" indent="0" algn="just">
              <a:buNone/>
            </a:pPr>
            <a:endParaRPr lang="en-US" sz="2200" dirty="0"/>
          </a:p>
        </p:txBody>
      </p:sp>
      <p:sp>
        <p:nvSpPr>
          <p:cNvPr id="4" name="Footer Placeholder 3">
            <a:extLst>
              <a:ext uri="{FF2B5EF4-FFF2-40B4-BE49-F238E27FC236}">
                <a16:creationId xmlns:a16="http://schemas.microsoft.com/office/drawing/2014/main" id="{548941FB-008A-C5D1-9614-A11277CA36F3}"/>
              </a:ext>
            </a:extLst>
          </p:cNvPr>
          <p:cNvSpPr>
            <a:spLocks noGrp="1"/>
          </p:cNvSpPr>
          <p:nvPr>
            <p:ph type="ftr" sz="quarter" idx="11"/>
          </p:nvPr>
        </p:nvSpPr>
        <p:spPr/>
        <p:txBody>
          <a:bodyPr/>
          <a:lstStyle/>
          <a:p>
            <a:r>
              <a:rPr lang="en-US" dirty="0">
                <a:solidFill>
                  <a:schemeClr val="tx1"/>
                </a:solidFill>
              </a:rPr>
              <a:t>Prepared by Dr. Fawzi Albalooshi</a:t>
            </a:r>
            <a:endParaRPr lang="en-GB" dirty="0">
              <a:solidFill>
                <a:schemeClr val="tx1"/>
              </a:solidFill>
            </a:endParaRPr>
          </a:p>
        </p:txBody>
      </p:sp>
    </p:spTree>
    <p:extLst>
      <p:ext uri="{BB962C8B-B14F-4D97-AF65-F5344CB8AC3E}">
        <p14:creationId xmlns:p14="http://schemas.microsoft.com/office/powerpoint/2010/main" val="413961553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2B1CF96-3DBD-2C1C-C3AA-E40AEF9DAABA}"/>
              </a:ext>
            </a:extLst>
          </p:cNvPr>
          <p:cNvSpPr>
            <a:spLocks noGrp="1"/>
          </p:cNvSpPr>
          <p:nvPr>
            <p:ph type="title"/>
          </p:nvPr>
        </p:nvSpPr>
        <p:spPr>
          <a:xfrm>
            <a:off x="669036" y="365125"/>
            <a:ext cx="10853928" cy="1325563"/>
          </a:xfrm>
        </p:spPr>
        <p:txBody>
          <a:bodyPr>
            <a:normAutofit fontScale="90000"/>
          </a:bodyPr>
          <a:lstStyle/>
          <a:p>
            <a:pPr marL="0" marR="0">
              <a:lnSpc>
                <a:spcPct val="107000"/>
              </a:lnSpc>
              <a:spcBef>
                <a:spcPts val="0"/>
              </a:spcBef>
              <a:spcAft>
                <a:spcPts val="800"/>
              </a:spcAft>
            </a:pPr>
            <a:r>
              <a:rPr lang="en-GB" sz="4000" b="1" kern="100" dirty="0">
                <a:effectLst/>
                <a:latin typeface="Calibri" panose="020F0502020204030204" pitchFamily="34" charset="0"/>
                <a:ea typeface="Calibri" panose="020F0502020204030204" pitchFamily="34" charset="0"/>
                <a:cs typeface="Arial" panose="020B0604020202020204" pitchFamily="34" charset="0"/>
              </a:rPr>
              <a:t>Modify Our Definition of Development “Done” to include Running in Production-Like Environments</a:t>
            </a:r>
            <a:endParaRPr lang="en-GB" sz="4800" kern="100" dirty="0">
              <a:effectLst/>
              <a:latin typeface="Calibri" panose="020F0502020204030204" pitchFamily="34" charset="0"/>
              <a:ea typeface="Calibri" panose="020F0502020204030204" pitchFamily="34" charset="0"/>
              <a:cs typeface="Arial" panose="020B0604020202020204" pitchFamily="34" charset="0"/>
            </a:endParaRPr>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C0A0DA03-8DCB-6C12-0FDB-B85BAA7CAAC3}"/>
              </a:ext>
            </a:extLst>
          </p:cNvPr>
          <p:cNvSpPr>
            <a:spLocks noGrp="1"/>
          </p:cNvSpPr>
          <p:nvPr>
            <p:ph idx="1"/>
          </p:nvPr>
        </p:nvSpPr>
        <p:spPr>
          <a:xfrm>
            <a:off x="408373" y="1909764"/>
            <a:ext cx="11114591" cy="4838508"/>
          </a:xfrm>
        </p:spPr>
        <p:txBody>
          <a:bodyPr>
            <a:normAutofit/>
          </a:bodyPr>
          <a:lstStyle/>
          <a:p>
            <a:pPr marR="0" indent="0" algn="just">
              <a:lnSpc>
                <a:spcPct val="107000"/>
              </a:lnSpc>
              <a:spcBef>
                <a:spcPts val="0"/>
              </a:spcBef>
              <a:spcAft>
                <a:spcPts val="800"/>
              </a:spcAft>
              <a:buNone/>
            </a:pPr>
            <a:r>
              <a:rPr lang="en-GB" sz="2400" kern="100" dirty="0">
                <a:effectLst/>
                <a:latin typeface="Calibri" panose="020F0502020204030204" pitchFamily="34" charset="0"/>
                <a:ea typeface="Calibri" panose="020F0502020204030204" pitchFamily="34" charset="0"/>
                <a:cs typeface="Arial" panose="020B0604020202020204" pitchFamily="34" charset="0"/>
              </a:rPr>
              <a:t>Now that our environments can be created on demand and everything is checked into version control, our goal is to ensure that these environments are being used in the daily work of </a:t>
            </a:r>
            <a:r>
              <a:rPr lang="en-GB" sz="2400" b="1" kern="100" dirty="0">
                <a:effectLst/>
                <a:latin typeface="Calibri" panose="020F0502020204030204" pitchFamily="34" charset="0"/>
                <a:ea typeface="Calibri" panose="020F0502020204030204" pitchFamily="34" charset="0"/>
                <a:cs typeface="Arial" panose="020B0604020202020204" pitchFamily="34" charset="0"/>
              </a:rPr>
              <a:t>Development</a:t>
            </a:r>
            <a:r>
              <a:rPr lang="en-GB" sz="2400" kern="100" dirty="0">
                <a:effectLst/>
                <a:latin typeface="Calibri" panose="020F0502020204030204" pitchFamily="34" charset="0"/>
                <a:ea typeface="Calibri" panose="020F0502020204030204" pitchFamily="34" charset="0"/>
                <a:cs typeface="Arial" panose="020B0604020202020204" pitchFamily="34" charset="0"/>
              </a:rPr>
              <a:t>. We need to verify that our application runs as expected in a production-like environment long before the end of the project or before our first production deployment.</a:t>
            </a:r>
          </a:p>
          <a:p>
            <a:pPr marR="0" indent="0" algn="just">
              <a:lnSpc>
                <a:spcPct val="107000"/>
              </a:lnSpc>
              <a:spcBef>
                <a:spcPts val="0"/>
              </a:spcBef>
              <a:spcAft>
                <a:spcPts val="800"/>
              </a:spcAft>
              <a:buNone/>
            </a:pPr>
            <a:r>
              <a:rPr lang="en-GB" sz="2400" dirty="0">
                <a:effectLst/>
                <a:latin typeface="Calibri" panose="020F0502020204030204" pitchFamily="34" charset="0"/>
                <a:ea typeface="Calibri" panose="020F0502020204030204" pitchFamily="34" charset="0"/>
                <a:cs typeface="Arial" panose="020B0604020202020204" pitchFamily="34" charset="0"/>
              </a:rPr>
              <a:t>Our goal is to ensure that Development and QA are routinely integrating the code with production-like environments at increasingly frequent intervals throughout the project. We do this by expanding the definition of “done” beyond just correct code functionality: at the end of each development interval, or more frequently, we have integrated, tested, working, and potentially shippable code, </a:t>
            </a:r>
            <a:r>
              <a:rPr lang="en-GB" sz="2400" b="1" dirty="0">
                <a:effectLst/>
                <a:latin typeface="Calibri" panose="020F0502020204030204" pitchFamily="34" charset="0"/>
                <a:ea typeface="Calibri" panose="020F0502020204030204" pitchFamily="34" charset="0"/>
                <a:cs typeface="Arial" panose="020B0604020202020204" pitchFamily="34" charset="0"/>
              </a:rPr>
              <a:t>demonstrated in a production-like environment</a:t>
            </a:r>
            <a:endParaRPr lang="en-US" sz="2200" dirty="0"/>
          </a:p>
        </p:txBody>
      </p:sp>
      <p:sp>
        <p:nvSpPr>
          <p:cNvPr id="4" name="Footer Placeholder 3">
            <a:extLst>
              <a:ext uri="{FF2B5EF4-FFF2-40B4-BE49-F238E27FC236}">
                <a16:creationId xmlns:a16="http://schemas.microsoft.com/office/drawing/2014/main" id="{69100606-A4EB-A9E2-E87B-71CC4482E1BB}"/>
              </a:ext>
            </a:extLst>
          </p:cNvPr>
          <p:cNvSpPr>
            <a:spLocks noGrp="1"/>
          </p:cNvSpPr>
          <p:nvPr>
            <p:ph type="ftr" sz="quarter" idx="11"/>
          </p:nvPr>
        </p:nvSpPr>
        <p:spPr/>
        <p:txBody>
          <a:bodyPr/>
          <a:lstStyle/>
          <a:p>
            <a:r>
              <a:rPr lang="en-US" dirty="0">
                <a:solidFill>
                  <a:schemeClr val="tx1"/>
                </a:solidFill>
              </a:rPr>
              <a:t>Prepared by Dr. Fawzi Albalooshi</a:t>
            </a:r>
            <a:endParaRPr lang="en-GB" dirty="0">
              <a:solidFill>
                <a:schemeClr val="tx1"/>
              </a:solidFill>
            </a:endParaRPr>
          </a:p>
        </p:txBody>
      </p:sp>
    </p:spTree>
    <p:extLst>
      <p:ext uri="{BB962C8B-B14F-4D97-AF65-F5344CB8AC3E}">
        <p14:creationId xmlns:p14="http://schemas.microsoft.com/office/powerpoint/2010/main" val="7845471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2B1CF96-3DBD-2C1C-C3AA-E40AEF9DAABA}"/>
              </a:ext>
            </a:extLst>
          </p:cNvPr>
          <p:cNvSpPr>
            <a:spLocks noGrp="1"/>
          </p:cNvSpPr>
          <p:nvPr>
            <p:ph type="title"/>
          </p:nvPr>
        </p:nvSpPr>
        <p:spPr>
          <a:xfrm>
            <a:off x="838200" y="365125"/>
            <a:ext cx="10515600" cy="1325563"/>
          </a:xfrm>
        </p:spPr>
        <p:txBody>
          <a:bodyPr>
            <a:normAutofit/>
          </a:bodyPr>
          <a:lstStyle/>
          <a:p>
            <a:pPr marL="0" marR="0">
              <a:lnSpc>
                <a:spcPct val="107000"/>
              </a:lnSpc>
              <a:spcBef>
                <a:spcPts val="0"/>
              </a:spcBef>
              <a:spcAft>
                <a:spcPts val="800"/>
              </a:spcAft>
            </a:pPr>
            <a:r>
              <a:rPr lang="en-GB" sz="4800" b="1" kern="100" dirty="0">
                <a:effectLst/>
                <a:latin typeface="Calibri" panose="020F0502020204030204" pitchFamily="34" charset="0"/>
                <a:ea typeface="Calibri" panose="020F0502020204030204" pitchFamily="34" charset="0"/>
                <a:cs typeface="Arial" panose="020B0604020202020204" pitchFamily="34" charset="0"/>
              </a:rPr>
              <a:t>Conclusion</a:t>
            </a:r>
            <a:endParaRPr lang="en-GB" sz="4800" kern="100" dirty="0">
              <a:effectLst/>
              <a:latin typeface="Calibri" panose="020F0502020204030204" pitchFamily="34" charset="0"/>
              <a:ea typeface="Calibri" panose="020F0502020204030204" pitchFamily="34" charset="0"/>
              <a:cs typeface="Arial" panose="020B0604020202020204" pitchFamily="34" charset="0"/>
            </a:endParaRPr>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C0A0DA03-8DCB-6C12-0FDB-B85BAA7CAAC3}"/>
              </a:ext>
            </a:extLst>
          </p:cNvPr>
          <p:cNvSpPr>
            <a:spLocks noGrp="1"/>
          </p:cNvSpPr>
          <p:nvPr>
            <p:ph idx="1"/>
          </p:nvPr>
        </p:nvSpPr>
        <p:spPr>
          <a:xfrm>
            <a:off x="489857" y="1896726"/>
            <a:ext cx="11184279" cy="4645584"/>
          </a:xfrm>
        </p:spPr>
        <p:txBody>
          <a:bodyPr>
            <a:normAutofit/>
          </a:bodyPr>
          <a:lstStyle/>
          <a:p>
            <a:pPr marL="0" marR="0" indent="0" algn="just">
              <a:lnSpc>
                <a:spcPct val="107000"/>
              </a:lnSpc>
              <a:spcBef>
                <a:spcPts val="0"/>
              </a:spcBef>
              <a:spcAft>
                <a:spcPts val="800"/>
              </a:spcAft>
              <a:buNone/>
            </a:pPr>
            <a:r>
              <a:rPr lang="en-GB" sz="2400" kern="100" dirty="0">
                <a:effectLst/>
                <a:latin typeface="Calibri" panose="020F0502020204030204" pitchFamily="34" charset="0"/>
                <a:ea typeface="Calibri" panose="020F0502020204030204" pitchFamily="34" charset="0"/>
                <a:cs typeface="Arial" panose="020B0604020202020204" pitchFamily="34" charset="0"/>
              </a:rPr>
              <a:t>The fast flow of work from </a:t>
            </a:r>
            <a:r>
              <a:rPr lang="en-GB" sz="2400" b="1" kern="100" dirty="0">
                <a:effectLst/>
                <a:latin typeface="Calibri" panose="020F0502020204030204" pitchFamily="34" charset="0"/>
                <a:ea typeface="Calibri" panose="020F0502020204030204" pitchFamily="34" charset="0"/>
                <a:cs typeface="Arial" panose="020B0604020202020204" pitchFamily="34" charset="0"/>
              </a:rPr>
              <a:t>Development</a:t>
            </a:r>
            <a:r>
              <a:rPr lang="en-GB" sz="2400" kern="100" dirty="0">
                <a:effectLst/>
                <a:latin typeface="Calibri" panose="020F0502020204030204" pitchFamily="34" charset="0"/>
                <a:ea typeface="Calibri" panose="020F0502020204030204" pitchFamily="34" charset="0"/>
                <a:cs typeface="Arial" panose="020B0604020202020204" pitchFamily="34" charset="0"/>
              </a:rPr>
              <a:t> </a:t>
            </a:r>
            <a:r>
              <a:rPr lang="en-GB" sz="2400" b="1" kern="100" dirty="0">
                <a:effectLst/>
                <a:latin typeface="Calibri" panose="020F0502020204030204" pitchFamily="34" charset="0"/>
                <a:ea typeface="Calibri" panose="020F0502020204030204" pitchFamily="34" charset="0"/>
                <a:cs typeface="Arial" panose="020B0604020202020204" pitchFamily="34" charset="0"/>
              </a:rPr>
              <a:t>to Operations</a:t>
            </a:r>
            <a:r>
              <a:rPr lang="en-GB" sz="2400" kern="100" dirty="0">
                <a:effectLst/>
                <a:latin typeface="Calibri" panose="020F0502020204030204" pitchFamily="34" charset="0"/>
                <a:ea typeface="Calibri" panose="020F0502020204030204" pitchFamily="34" charset="0"/>
                <a:cs typeface="Arial" panose="020B0604020202020204" pitchFamily="34" charset="0"/>
              </a:rPr>
              <a:t> requires that anyone can get production-like environments on demand. </a:t>
            </a:r>
          </a:p>
          <a:p>
            <a:pPr marL="0" marR="0" indent="0" algn="just">
              <a:lnSpc>
                <a:spcPct val="107000"/>
              </a:lnSpc>
              <a:spcBef>
                <a:spcPts val="0"/>
              </a:spcBef>
              <a:spcAft>
                <a:spcPts val="800"/>
              </a:spcAft>
              <a:buNone/>
            </a:pPr>
            <a:r>
              <a:rPr lang="en-GB" sz="2400" kern="100" dirty="0">
                <a:effectLst/>
                <a:latin typeface="Calibri" panose="020F0502020204030204" pitchFamily="34" charset="0"/>
                <a:ea typeface="Calibri" panose="020F0502020204030204" pitchFamily="34" charset="0"/>
                <a:cs typeface="Arial" panose="020B0604020202020204" pitchFamily="34" charset="0"/>
              </a:rPr>
              <a:t>By allowing developers to use production-like environments even at the earliest stages of a software project, we significantly reduce the risk of production problems later. </a:t>
            </a:r>
          </a:p>
          <a:p>
            <a:pPr marL="0" marR="0" indent="0" algn="just">
              <a:lnSpc>
                <a:spcPct val="107000"/>
              </a:lnSpc>
              <a:spcBef>
                <a:spcPts val="0"/>
              </a:spcBef>
              <a:spcAft>
                <a:spcPts val="800"/>
              </a:spcAft>
              <a:buNone/>
            </a:pPr>
            <a:r>
              <a:rPr lang="en-GB" sz="2400" kern="100" dirty="0">
                <a:effectLst/>
                <a:latin typeface="Calibri" panose="020F0502020204030204" pitchFamily="34" charset="0"/>
                <a:ea typeface="Calibri" panose="020F0502020204030204" pitchFamily="34" charset="0"/>
                <a:cs typeface="Arial" panose="020B0604020202020204" pitchFamily="34" charset="0"/>
              </a:rPr>
              <a:t>This is one of the many practices that demonstrate how </a:t>
            </a:r>
            <a:r>
              <a:rPr lang="en-GB" sz="2400" b="1" kern="100" dirty="0">
                <a:effectLst/>
                <a:latin typeface="Calibri" panose="020F0502020204030204" pitchFamily="34" charset="0"/>
                <a:ea typeface="Calibri" panose="020F0502020204030204" pitchFamily="34" charset="0"/>
                <a:cs typeface="Arial" panose="020B0604020202020204" pitchFamily="34" charset="0"/>
              </a:rPr>
              <a:t>Operations</a:t>
            </a:r>
            <a:r>
              <a:rPr lang="en-GB" sz="2400" kern="100" dirty="0">
                <a:effectLst/>
                <a:latin typeface="Calibri" panose="020F0502020204030204" pitchFamily="34" charset="0"/>
                <a:ea typeface="Calibri" panose="020F0502020204030204" pitchFamily="34" charset="0"/>
                <a:cs typeface="Arial" panose="020B0604020202020204" pitchFamily="34" charset="0"/>
              </a:rPr>
              <a:t> can make developers far more productive. </a:t>
            </a:r>
          </a:p>
          <a:p>
            <a:pPr marL="0" marR="0" indent="0" algn="just">
              <a:lnSpc>
                <a:spcPct val="107000"/>
              </a:lnSpc>
              <a:spcBef>
                <a:spcPts val="0"/>
              </a:spcBef>
              <a:spcAft>
                <a:spcPts val="800"/>
              </a:spcAft>
              <a:buNone/>
            </a:pPr>
            <a:r>
              <a:rPr lang="en-GB" sz="2400" kern="100" dirty="0">
                <a:effectLst/>
                <a:latin typeface="Calibri" panose="020F0502020204030204" pitchFamily="34" charset="0"/>
                <a:ea typeface="Calibri" panose="020F0502020204030204" pitchFamily="34" charset="0"/>
                <a:cs typeface="Arial" panose="020B0604020202020204" pitchFamily="34" charset="0"/>
              </a:rPr>
              <a:t>Furthermore, by having all production artifacts into version control, we have a “single source of truth” that allows us to re-create the entire production environment in a quick, repeatable, and documented way, using the same development practices for </a:t>
            </a:r>
            <a:r>
              <a:rPr lang="en-GB" sz="2400" b="1" kern="100" dirty="0">
                <a:effectLst/>
                <a:latin typeface="Calibri" panose="020F0502020204030204" pitchFamily="34" charset="0"/>
                <a:ea typeface="Calibri" panose="020F0502020204030204" pitchFamily="34" charset="0"/>
                <a:cs typeface="Arial" panose="020B0604020202020204" pitchFamily="34" charset="0"/>
              </a:rPr>
              <a:t>Operations</a:t>
            </a:r>
            <a:r>
              <a:rPr lang="en-GB" sz="2400" kern="100" dirty="0">
                <a:effectLst/>
                <a:latin typeface="Calibri" panose="020F0502020204030204" pitchFamily="34" charset="0"/>
                <a:ea typeface="Calibri" panose="020F0502020204030204" pitchFamily="34" charset="0"/>
                <a:cs typeface="Arial" panose="020B0604020202020204" pitchFamily="34" charset="0"/>
              </a:rPr>
              <a:t> work as we do for </a:t>
            </a:r>
            <a:r>
              <a:rPr lang="en-GB" sz="2400" b="1" kern="100" dirty="0">
                <a:effectLst/>
                <a:latin typeface="Calibri" panose="020F0502020204030204" pitchFamily="34" charset="0"/>
                <a:ea typeface="Calibri" panose="020F0502020204030204" pitchFamily="34" charset="0"/>
                <a:cs typeface="Arial" panose="020B0604020202020204" pitchFamily="34" charset="0"/>
              </a:rPr>
              <a:t>Development </a:t>
            </a:r>
            <a:r>
              <a:rPr lang="en-GB" sz="2400" kern="100" dirty="0">
                <a:effectLst/>
                <a:latin typeface="Calibri" panose="020F0502020204030204" pitchFamily="34" charset="0"/>
                <a:ea typeface="Calibri" panose="020F0502020204030204" pitchFamily="34" charset="0"/>
                <a:cs typeface="Arial" panose="020B0604020202020204" pitchFamily="34" charset="0"/>
              </a:rPr>
              <a:t>work.</a:t>
            </a:r>
          </a:p>
        </p:txBody>
      </p:sp>
      <p:sp>
        <p:nvSpPr>
          <p:cNvPr id="4" name="Footer Placeholder 3">
            <a:extLst>
              <a:ext uri="{FF2B5EF4-FFF2-40B4-BE49-F238E27FC236}">
                <a16:creationId xmlns:a16="http://schemas.microsoft.com/office/drawing/2014/main" id="{D1B72F48-B7BC-7333-B461-69440F06B005}"/>
              </a:ext>
            </a:extLst>
          </p:cNvPr>
          <p:cNvSpPr>
            <a:spLocks noGrp="1"/>
          </p:cNvSpPr>
          <p:nvPr>
            <p:ph type="ftr" sz="quarter" idx="11"/>
          </p:nvPr>
        </p:nvSpPr>
        <p:spPr/>
        <p:txBody>
          <a:bodyPr/>
          <a:lstStyle/>
          <a:p>
            <a:r>
              <a:rPr lang="en-US" dirty="0">
                <a:solidFill>
                  <a:schemeClr val="tx1"/>
                </a:solidFill>
              </a:rPr>
              <a:t>Prepared by Dr. Fawzi Albalooshi</a:t>
            </a:r>
            <a:endParaRPr lang="en-GB" dirty="0">
              <a:solidFill>
                <a:schemeClr val="tx1"/>
              </a:solidFill>
            </a:endParaRPr>
          </a:p>
        </p:txBody>
      </p:sp>
    </p:spTree>
    <p:extLst>
      <p:ext uri="{BB962C8B-B14F-4D97-AF65-F5344CB8AC3E}">
        <p14:creationId xmlns:p14="http://schemas.microsoft.com/office/powerpoint/2010/main" val="152289434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1DBEAC8-7E2D-2F3C-2747-05B3E196FE90}"/>
              </a:ext>
            </a:extLst>
          </p:cNvPr>
          <p:cNvSpPr>
            <a:spLocks noGrp="1"/>
          </p:cNvSpPr>
          <p:nvPr>
            <p:ph type="title"/>
          </p:nvPr>
        </p:nvSpPr>
        <p:spPr>
          <a:xfrm>
            <a:off x="838200" y="365125"/>
            <a:ext cx="10515600" cy="1325563"/>
          </a:xfrm>
        </p:spPr>
        <p:txBody>
          <a:bodyPr>
            <a:normAutofit fontScale="90000"/>
          </a:bodyPr>
          <a:lstStyle/>
          <a:p>
            <a:r>
              <a:rPr lang="en-GB" sz="4800" b="1" dirty="0">
                <a:latin typeface="Calibri" panose="020F0502020204030204" pitchFamily="34" charset="0"/>
                <a:cs typeface="Arial" panose="020B0604020202020204" pitchFamily="34" charset="0"/>
              </a:rPr>
              <a:t>Tool Support - Environments</a:t>
            </a:r>
            <a:br>
              <a:rPr lang="en-GB" sz="5400" kern="100" dirty="0">
                <a:effectLst/>
                <a:latin typeface="Calibri" panose="020F0502020204030204" pitchFamily="34" charset="0"/>
                <a:ea typeface="Calibri" panose="020F0502020204030204" pitchFamily="34" charset="0"/>
                <a:cs typeface="Arial" panose="020B0604020202020204" pitchFamily="34" charset="0"/>
              </a:rPr>
            </a:br>
            <a:endParaRPr lang="en-GB" sz="5400" dirty="0"/>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BDA174F1-A5AC-95E1-0F93-0AFE6BD2424D}"/>
              </a:ext>
            </a:extLst>
          </p:cNvPr>
          <p:cNvSpPr>
            <a:spLocks noGrp="1"/>
          </p:cNvSpPr>
          <p:nvPr>
            <p:ph idx="1"/>
          </p:nvPr>
        </p:nvSpPr>
        <p:spPr>
          <a:xfrm>
            <a:off x="669035" y="1787738"/>
            <a:ext cx="10853927" cy="4393606"/>
          </a:xfrm>
        </p:spPr>
        <p:txBody>
          <a:bodyPr>
            <a:normAutofit fontScale="85000" lnSpcReduction="20000"/>
          </a:bodyPr>
          <a:lstStyle/>
          <a:p>
            <a:pPr marL="0" indent="0" algn="just">
              <a:buNone/>
            </a:pPr>
            <a:r>
              <a:rPr lang="en-US" sz="2400" kern="100" dirty="0">
                <a:latin typeface="Calibri" panose="020F0502020204030204" pitchFamily="34" charset="0"/>
                <a:ea typeface="Calibri" panose="020F0502020204030204" pitchFamily="34" charset="0"/>
                <a:cs typeface="Arial" panose="020B0604020202020204" pitchFamily="34" charset="0"/>
              </a:rPr>
              <a:t>One way to have a production-like environment in GitHub is to use “environments” for deployment. Environments are used to describe a general deployment target like production, staging, or development</a:t>
            </a:r>
            <a:r>
              <a:rPr lang="en-US" sz="2500" b="1" kern="100" baseline="30000" dirty="0">
                <a:latin typeface="Calibri" panose="020F0502020204030204" pitchFamily="34" charset="0"/>
                <a:ea typeface="Calibri" panose="020F0502020204030204" pitchFamily="34" charset="0"/>
                <a:cs typeface="Arial" panose="020B0604020202020204" pitchFamily="34" charset="0"/>
              </a:rPr>
              <a:t>1</a:t>
            </a:r>
            <a:r>
              <a:rPr lang="en-US" sz="2400" kern="100" dirty="0">
                <a:latin typeface="Calibri" panose="020F0502020204030204" pitchFamily="34" charset="0"/>
                <a:ea typeface="Calibri" panose="020F0502020204030204" pitchFamily="34" charset="0"/>
                <a:cs typeface="Arial" panose="020B0604020202020204" pitchFamily="34" charset="0"/>
              </a:rPr>
              <a:t>. You can also use different “branches” for different environments, such as a master branch for production, a develop branch for testing, and feature branches for development</a:t>
            </a:r>
            <a:r>
              <a:rPr lang="en-US" sz="2400" b="1" kern="100" dirty="0">
                <a:latin typeface="Calibri" panose="020F0502020204030204" pitchFamily="34" charset="0"/>
                <a:ea typeface="Calibri" panose="020F0502020204030204" pitchFamily="34" charset="0"/>
                <a:cs typeface="Arial" panose="020B0604020202020204" pitchFamily="34" charset="0"/>
              </a:rPr>
              <a:t>²</a:t>
            </a:r>
            <a:r>
              <a:rPr lang="en-US" sz="2400" kern="100" dirty="0">
                <a:latin typeface="Calibri" panose="020F0502020204030204" pitchFamily="34" charset="0"/>
                <a:ea typeface="Calibri" panose="020F0502020204030204" pitchFamily="34" charset="0"/>
                <a:cs typeface="Arial" panose="020B0604020202020204" pitchFamily="34" charset="0"/>
              </a:rPr>
              <a:t>. Another option is to use a tool like “Garden” that creates production-like dev environments on Kubernetes</a:t>
            </a:r>
            <a:r>
              <a:rPr lang="en-US" sz="2400" b="1" kern="100" dirty="0">
                <a:latin typeface="Calibri" panose="020F0502020204030204" pitchFamily="34" charset="0"/>
                <a:ea typeface="Calibri" panose="020F0502020204030204" pitchFamily="34" charset="0"/>
                <a:cs typeface="Arial" panose="020B0604020202020204" pitchFamily="34" charset="0"/>
              </a:rPr>
              <a:t>³</a:t>
            </a:r>
            <a:r>
              <a:rPr lang="en-US" sz="2400" kern="100" dirty="0">
                <a:latin typeface="Calibri" panose="020F0502020204030204" pitchFamily="34" charset="0"/>
                <a:ea typeface="Calibri" panose="020F0502020204030204" pitchFamily="34" charset="0"/>
                <a:cs typeface="Arial" panose="020B0604020202020204" pitchFamily="34" charset="0"/>
              </a:rPr>
              <a:t>.</a:t>
            </a:r>
          </a:p>
          <a:p>
            <a:pPr marL="0" indent="0" algn="just">
              <a:buNone/>
            </a:pPr>
            <a:endParaRPr lang="en-US" sz="2400" kern="100" dirty="0">
              <a:latin typeface="Calibri" panose="020F0502020204030204" pitchFamily="34" charset="0"/>
              <a:ea typeface="Calibri" panose="020F0502020204030204" pitchFamily="34" charset="0"/>
              <a:cs typeface="Arial" panose="020B0604020202020204" pitchFamily="34" charset="0"/>
            </a:endParaRPr>
          </a:p>
          <a:p>
            <a:pPr marL="0" indent="0">
              <a:buNone/>
            </a:pPr>
            <a:r>
              <a:rPr lang="en-US" sz="2400" kern="100" dirty="0">
                <a:latin typeface="Calibri" panose="020F0502020204030204" pitchFamily="34" charset="0"/>
                <a:ea typeface="Calibri" panose="020F0502020204030204" pitchFamily="34" charset="0"/>
                <a:cs typeface="Arial" panose="020B0604020202020204" pitchFamily="34" charset="0"/>
              </a:rPr>
              <a:t>Source: Conversation with Bing, 9/12/2023</a:t>
            </a:r>
          </a:p>
          <a:p>
            <a:pPr marL="457200" indent="-457200">
              <a:buAutoNum type="arabicParenBoth"/>
            </a:pPr>
            <a:r>
              <a:rPr lang="en-US" sz="2400" kern="100" dirty="0">
                <a:latin typeface="Calibri" panose="020F0502020204030204" pitchFamily="34" charset="0"/>
                <a:ea typeface="Calibri" panose="020F0502020204030204" pitchFamily="34" charset="0"/>
                <a:cs typeface="Arial" panose="020B0604020202020204" pitchFamily="34" charset="0"/>
              </a:rPr>
              <a:t>Using environments for deployment - GitHub Docs. </a:t>
            </a:r>
            <a:r>
              <a:rPr lang="en-US" sz="2400" kern="100" dirty="0">
                <a:latin typeface="Calibri" panose="020F0502020204030204" pitchFamily="34" charset="0"/>
                <a:ea typeface="Calibri" panose="020F0502020204030204" pitchFamily="34" charset="0"/>
                <a:cs typeface="Arial" panose="020B0604020202020204" pitchFamily="34" charset="0"/>
                <a:hlinkClick r:id="rId2"/>
              </a:rPr>
              <a:t>https://docs.github.com/en/actions/deployment/targeting-different-environments/using-environments-for-deployment</a:t>
            </a:r>
            <a:endParaRPr lang="en-US" sz="2400" kern="100" dirty="0">
              <a:latin typeface="Calibri" panose="020F0502020204030204" pitchFamily="34" charset="0"/>
              <a:ea typeface="Calibri" panose="020F0502020204030204" pitchFamily="34" charset="0"/>
              <a:cs typeface="Arial" panose="020B0604020202020204" pitchFamily="34" charset="0"/>
            </a:endParaRPr>
          </a:p>
          <a:p>
            <a:pPr marL="457200" indent="-457200">
              <a:buFont typeface="Arial" panose="020B0604020202020204" pitchFamily="34" charset="0"/>
              <a:buAutoNum type="arabicParenBoth"/>
            </a:pPr>
            <a:r>
              <a:rPr lang="en-US" sz="2500" kern="100" dirty="0">
                <a:latin typeface="Calibri" panose="020F0502020204030204" pitchFamily="34" charset="0"/>
                <a:ea typeface="Calibri" panose="020F0502020204030204" pitchFamily="34" charset="0"/>
                <a:cs typeface="Arial" panose="020B0604020202020204" pitchFamily="34" charset="0"/>
              </a:rPr>
              <a:t>GIT Dev/Testing/Production Environment Best Practices. </a:t>
            </a:r>
            <a:r>
              <a:rPr lang="en-US" sz="2500" kern="100" dirty="0">
                <a:latin typeface="Calibri" panose="020F0502020204030204" pitchFamily="34" charset="0"/>
                <a:ea typeface="Calibri" panose="020F0502020204030204" pitchFamily="34" charset="0"/>
                <a:cs typeface="Arial" panose="020B0604020202020204" pitchFamily="34" charset="0"/>
                <a:hlinkClick r:id="rId3"/>
              </a:rPr>
              <a:t>https://stackoverflow.com/questions/19432586/git-dev-testing-production-environment-best-practices</a:t>
            </a:r>
            <a:r>
              <a:rPr lang="en-US" sz="2500" kern="100" dirty="0">
                <a:latin typeface="Calibri" panose="020F0502020204030204" pitchFamily="34" charset="0"/>
                <a:ea typeface="Calibri" panose="020F0502020204030204" pitchFamily="34" charset="0"/>
                <a:cs typeface="Arial" panose="020B0604020202020204" pitchFamily="34" charset="0"/>
              </a:rPr>
              <a:t> </a:t>
            </a:r>
          </a:p>
          <a:p>
            <a:pPr marL="457200" indent="-457200">
              <a:buFont typeface="Arial" panose="020B0604020202020204" pitchFamily="34" charset="0"/>
              <a:buAutoNum type="arabicParenBoth"/>
            </a:pPr>
            <a:r>
              <a:rPr lang="en-US" sz="2500" kern="100" dirty="0">
                <a:latin typeface="Calibri" panose="020F0502020204030204" pitchFamily="34" charset="0"/>
                <a:ea typeface="Calibri" panose="020F0502020204030204" pitchFamily="34" charset="0"/>
                <a:cs typeface="Arial" panose="020B0604020202020204" pitchFamily="34" charset="0"/>
              </a:rPr>
              <a:t>Why our dev environments need to be more production-like - Garden. </a:t>
            </a:r>
            <a:r>
              <a:rPr lang="en-US" sz="2500" kern="100" dirty="0">
                <a:latin typeface="Calibri" panose="020F0502020204030204" pitchFamily="34" charset="0"/>
                <a:ea typeface="Calibri" panose="020F0502020204030204" pitchFamily="34" charset="0"/>
                <a:cs typeface="Arial" panose="020B0604020202020204" pitchFamily="34" charset="0"/>
                <a:hlinkClick r:id="rId4"/>
              </a:rPr>
              <a:t>https://garden.io/blog/production-like-dev-environments</a:t>
            </a:r>
            <a:r>
              <a:rPr lang="en-US" sz="2500" kern="100" dirty="0">
                <a:latin typeface="Calibri" panose="020F0502020204030204" pitchFamily="34" charset="0"/>
                <a:ea typeface="Calibri" panose="020F0502020204030204" pitchFamily="34" charset="0"/>
                <a:cs typeface="Arial" panose="020B0604020202020204" pitchFamily="34" charset="0"/>
              </a:rPr>
              <a:t> </a:t>
            </a:r>
          </a:p>
          <a:p>
            <a:pPr marL="0" indent="0">
              <a:buNone/>
            </a:pPr>
            <a:endParaRPr lang="en-GB" sz="2400" b="1" kern="100" dirty="0">
              <a:latin typeface="Calibri" panose="020F0502020204030204" pitchFamily="34" charset="0"/>
              <a:ea typeface="Calibri" panose="020F0502020204030204" pitchFamily="34" charset="0"/>
              <a:cs typeface="Arial" panose="020B0604020202020204" pitchFamily="34" charset="0"/>
            </a:endParaRPr>
          </a:p>
        </p:txBody>
      </p:sp>
      <p:sp>
        <p:nvSpPr>
          <p:cNvPr id="4" name="Footer Placeholder 3">
            <a:extLst>
              <a:ext uri="{FF2B5EF4-FFF2-40B4-BE49-F238E27FC236}">
                <a16:creationId xmlns:a16="http://schemas.microsoft.com/office/drawing/2014/main" id="{47DE27FB-B3F2-E538-0100-AB725CFFD6FD}"/>
              </a:ext>
            </a:extLst>
          </p:cNvPr>
          <p:cNvSpPr>
            <a:spLocks noGrp="1"/>
          </p:cNvSpPr>
          <p:nvPr>
            <p:ph type="ftr" sz="quarter" idx="11"/>
          </p:nvPr>
        </p:nvSpPr>
        <p:spPr/>
        <p:txBody>
          <a:bodyPr/>
          <a:lstStyle/>
          <a:p>
            <a:r>
              <a:rPr lang="en-US" dirty="0">
                <a:solidFill>
                  <a:schemeClr val="tx1"/>
                </a:solidFill>
              </a:rPr>
              <a:t>Prepared by Dr. Fawzi Albalooshi</a:t>
            </a:r>
            <a:endParaRPr lang="en-GB" dirty="0">
              <a:solidFill>
                <a:schemeClr val="tx1"/>
              </a:solidFill>
            </a:endParaRPr>
          </a:p>
        </p:txBody>
      </p:sp>
    </p:spTree>
    <p:extLst>
      <p:ext uri="{BB962C8B-B14F-4D97-AF65-F5344CB8AC3E}">
        <p14:creationId xmlns:p14="http://schemas.microsoft.com/office/powerpoint/2010/main" val="391371952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1DBEAC8-7E2D-2F3C-2747-05B3E196FE90}"/>
              </a:ext>
            </a:extLst>
          </p:cNvPr>
          <p:cNvSpPr>
            <a:spLocks noGrp="1"/>
          </p:cNvSpPr>
          <p:nvPr>
            <p:ph type="title"/>
          </p:nvPr>
        </p:nvSpPr>
        <p:spPr>
          <a:xfrm>
            <a:off x="838200" y="365125"/>
            <a:ext cx="10515600" cy="1325563"/>
          </a:xfrm>
        </p:spPr>
        <p:txBody>
          <a:bodyPr>
            <a:normAutofit fontScale="90000"/>
          </a:bodyPr>
          <a:lstStyle/>
          <a:p>
            <a:r>
              <a:rPr lang="en-GB" sz="4800" b="1" dirty="0">
                <a:latin typeface="Calibri" panose="020F0502020204030204" pitchFamily="34" charset="0"/>
                <a:cs typeface="Arial" panose="020B0604020202020204" pitchFamily="34" charset="0"/>
              </a:rPr>
              <a:t>Tool Support - Containers</a:t>
            </a:r>
            <a:br>
              <a:rPr lang="en-GB" sz="5400" kern="100" dirty="0">
                <a:effectLst/>
                <a:latin typeface="Calibri" panose="020F0502020204030204" pitchFamily="34" charset="0"/>
                <a:ea typeface="Calibri" panose="020F0502020204030204" pitchFamily="34" charset="0"/>
                <a:cs typeface="Arial" panose="020B0604020202020204" pitchFamily="34" charset="0"/>
              </a:rPr>
            </a:br>
            <a:endParaRPr lang="en-GB" sz="5400" dirty="0"/>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BDA174F1-A5AC-95E1-0F93-0AFE6BD2424D}"/>
              </a:ext>
            </a:extLst>
          </p:cNvPr>
          <p:cNvSpPr>
            <a:spLocks noGrp="1"/>
          </p:cNvSpPr>
          <p:nvPr>
            <p:ph idx="1"/>
          </p:nvPr>
        </p:nvSpPr>
        <p:spPr>
          <a:xfrm>
            <a:off x="669035" y="1787738"/>
            <a:ext cx="10853927" cy="4393606"/>
          </a:xfrm>
        </p:spPr>
        <p:txBody>
          <a:bodyPr>
            <a:normAutofit fontScale="92500" lnSpcReduction="20000"/>
          </a:bodyPr>
          <a:lstStyle/>
          <a:p>
            <a:pPr marL="0" indent="0" algn="just">
              <a:lnSpc>
                <a:spcPct val="80000"/>
              </a:lnSpc>
              <a:buNone/>
            </a:pPr>
            <a:r>
              <a:rPr lang="en-US" sz="2200" kern="100" dirty="0">
                <a:latin typeface="Calibri" panose="020F0502020204030204" pitchFamily="34" charset="0"/>
                <a:ea typeface="Calibri" panose="020F0502020204030204" pitchFamily="34" charset="0"/>
                <a:cs typeface="Arial" panose="020B0604020202020204" pitchFamily="34" charset="0"/>
              </a:rPr>
              <a:t>There are different ways to use containers in GitHub, depending on your needs. You can use the “Container registry” to store and manage container images within your organization or personal account and associate them with a repository</a:t>
            </a:r>
            <a:r>
              <a:rPr lang="en-US" sz="2200" b="1" kern="100" dirty="0">
                <a:latin typeface="Calibri" panose="020F0502020204030204" pitchFamily="34" charset="0"/>
                <a:ea typeface="Calibri" panose="020F0502020204030204" pitchFamily="34" charset="0"/>
                <a:cs typeface="Arial" panose="020B0604020202020204" pitchFamily="34" charset="0"/>
              </a:rPr>
              <a:t>¹</a:t>
            </a:r>
            <a:r>
              <a:rPr lang="en-US" sz="2200" kern="100" dirty="0">
                <a:latin typeface="Calibri" panose="020F0502020204030204" pitchFamily="34" charset="0"/>
                <a:ea typeface="Calibri" panose="020F0502020204030204" pitchFamily="34" charset="0"/>
                <a:cs typeface="Arial" panose="020B0604020202020204" pitchFamily="34" charset="0"/>
              </a:rPr>
              <a:t>. You can also use “service containers” to host services that you need to test or operate your application in a workflow, such as a database or a memory cache</a:t>
            </a:r>
            <a:r>
              <a:rPr lang="en-US" sz="2200" b="1" kern="100" dirty="0">
                <a:latin typeface="Calibri" panose="020F0502020204030204" pitchFamily="34" charset="0"/>
                <a:ea typeface="Calibri" panose="020F0502020204030204" pitchFamily="34" charset="0"/>
                <a:cs typeface="Arial" panose="020B0604020202020204" pitchFamily="34" charset="0"/>
              </a:rPr>
              <a:t>²</a:t>
            </a:r>
            <a:r>
              <a:rPr lang="en-US" sz="2200" kern="100" dirty="0">
                <a:latin typeface="Calibri" panose="020F0502020204030204" pitchFamily="34" charset="0"/>
                <a:ea typeface="Calibri" panose="020F0502020204030204" pitchFamily="34" charset="0"/>
                <a:cs typeface="Arial" panose="020B0604020202020204" pitchFamily="34" charset="0"/>
              </a:rPr>
              <a:t>. Additionally, you can use the “GitHub Container Registry” to improve how you handle containers within GitHub Packages, and enforce access policies, use a standard base image, and share across the organization</a:t>
            </a:r>
            <a:r>
              <a:rPr lang="en-US" sz="2200" b="1" kern="100" dirty="0">
                <a:latin typeface="Calibri" panose="020F0502020204030204" pitchFamily="34" charset="0"/>
                <a:ea typeface="Calibri" panose="020F0502020204030204" pitchFamily="34" charset="0"/>
                <a:cs typeface="Arial" panose="020B0604020202020204" pitchFamily="34" charset="0"/>
              </a:rPr>
              <a:t>³</a:t>
            </a:r>
            <a:r>
              <a:rPr lang="en-US" sz="2200" kern="100" dirty="0">
                <a:latin typeface="Calibri" panose="020F0502020204030204" pitchFamily="34" charset="0"/>
                <a:ea typeface="Calibri" panose="020F0502020204030204" pitchFamily="34" charset="0"/>
                <a:cs typeface="Arial" panose="020B0604020202020204" pitchFamily="34" charset="0"/>
              </a:rPr>
              <a:t>.</a:t>
            </a:r>
          </a:p>
          <a:p>
            <a:pPr marL="0" indent="0" algn="just">
              <a:buNone/>
            </a:pPr>
            <a:endParaRPr lang="en-US" sz="2400" kern="100" dirty="0">
              <a:latin typeface="Calibri" panose="020F0502020204030204" pitchFamily="34" charset="0"/>
              <a:ea typeface="Calibri" panose="020F0502020204030204" pitchFamily="34" charset="0"/>
              <a:cs typeface="Arial" panose="020B0604020202020204" pitchFamily="34" charset="0"/>
            </a:endParaRPr>
          </a:p>
          <a:p>
            <a:pPr marL="0" indent="0" algn="just">
              <a:buNone/>
            </a:pPr>
            <a:r>
              <a:rPr lang="en-US" sz="2400" kern="100" dirty="0">
                <a:latin typeface="Calibri" panose="020F0502020204030204" pitchFamily="34" charset="0"/>
                <a:ea typeface="Calibri" panose="020F0502020204030204" pitchFamily="34" charset="0"/>
                <a:cs typeface="Arial" panose="020B0604020202020204" pitchFamily="34" charset="0"/>
              </a:rPr>
              <a:t>Source: Conversation with Bing, 9/12/2023</a:t>
            </a:r>
          </a:p>
          <a:p>
            <a:pPr marL="457200" indent="-457200" algn="just">
              <a:buAutoNum type="arabicParenBoth"/>
            </a:pPr>
            <a:r>
              <a:rPr lang="en-US" sz="2400" kern="100" dirty="0">
                <a:latin typeface="Calibri" panose="020F0502020204030204" pitchFamily="34" charset="0"/>
                <a:ea typeface="Calibri" panose="020F0502020204030204" pitchFamily="34" charset="0"/>
                <a:cs typeface="Arial" panose="020B0604020202020204" pitchFamily="34" charset="0"/>
              </a:rPr>
              <a:t>Working with the Container registry - GitHub Docs. </a:t>
            </a:r>
            <a:r>
              <a:rPr lang="en-US" sz="2400" kern="100" dirty="0">
                <a:latin typeface="Calibri" panose="020F0502020204030204" pitchFamily="34" charset="0"/>
                <a:ea typeface="Calibri" panose="020F0502020204030204" pitchFamily="34" charset="0"/>
                <a:cs typeface="Arial" panose="020B0604020202020204" pitchFamily="34" charset="0"/>
                <a:hlinkClick r:id="rId2"/>
              </a:rPr>
              <a:t>https://docs.github.com/en/packages/working-with-a-github-packages-registry/working-with-the-container-registry</a:t>
            </a:r>
            <a:endParaRPr lang="en-US" sz="2400" kern="100" dirty="0">
              <a:latin typeface="Calibri" panose="020F0502020204030204" pitchFamily="34" charset="0"/>
              <a:ea typeface="Calibri" panose="020F0502020204030204" pitchFamily="34" charset="0"/>
              <a:cs typeface="Arial" panose="020B0604020202020204" pitchFamily="34" charset="0"/>
            </a:endParaRPr>
          </a:p>
          <a:p>
            <a:pPr marL="457200" indent="-457200" algn="just">
              <a:buFont typeface="Arial" panose="020B0604020202020204" pitchFamily="34" charset="0"/>
              <a:buAutoNum type="arabicParenBoth"/>
            </a:pPr>
            <a:r>
              <a:rPr lang="en-US" sz="2400" kern="100" dirty="0">
                <a:latin typeface="Calibri" panose="020F0502020204030204" pitchFamily="34" charset="0"/>
                <a:ea typeface="Calibri" panose="020F0502020204030204" pitchFamily="34" charset="0"/>
                <a:cs typeface="Arial" panose="020B0604020202020204" pitchFamily="34" charset="0"/>
              </a:rPr>
              <a:t>About service containers - GitHub Docs. </a:t>
            </a:r>
            <a:r>
              <a:rPr lang="en-US" sz="2400" kern="100" dirty="0">
                <a:latin typeface="Calibri" panose="020F0502020204030204" pitchFamily="34" charset="0"/>
                <a:ea typeface="Calibri" panose="020F0502020204030204" pitchFamily="34" charset="0"/>
                <a:cs typeface="Arial" panose="020B0604020202020204" pitchFamily="34" charset="0"/>
                <a:hlinkClick r:id="rId3"/>
              </a:rPr>
              <a:t>https://docs.github.com/en/actions/using-containerized-services/about-service-containers</a:t>
            </a:r>
            <a:r>
              <a:rPr lang="en-US" sz="2400" kern="100" dirty="0">
                <a:latin typeface="Calibri" panose="020F0502020204030204" pitchFamily="34" charset="0"/>
                <a:ea typeface="Calibri" panose="020F0502020204030204" pitchFamily="34" charset="0"/>
                <a:cs typeface="Arial" panose="020B0604020202020204" pitchFamily="34" charset="0"/>
              </a:rPr>
              <a:t>  </a:t>
            </a:r>
          </a:p>
          <a:p>
            <a:pPr marL="457200" indent="-457200" algn="just">
              <a:buFont typeface="Arial" panose="020B0604020202020204" pitchFamily="34" charset="0"/>
              <a:buAutoNum type="arabicParenBoth"/>
            </a:pPr>
            <a:r>
              <a:rPr lang="en-US" sz="2400" kern="100" dirty="0">
                <a:latin typeface="Calibri" panose="020F0502020204030204" pitchFamily="34" charset="0"/>
                <a:ea typeface="Calibri" panose="020F0502020204030204" pitchFamily="34" charset="0"/>
                <a:cs typeface="Arial" panose="020B0604020202020204" pitchFamily="34" charset="0"/>
              </a:rPr>
              <a:t>Introducing GitHub Container Registry - The GitHub Blog. </a:t>
            </a:r>
            <a:r>
              <a:rPr lang="en-US" sz="2400" kern="100" dirty="0">
                <a:latin typeface="Calibri" panose="020F0502020204030204" pitchFamily="34" charset="0"/>
                <a:ea typeface="Calibri" panose="020F0502020204030204" pitchFamily="34" charset="0"/>
                <a:cs typeface="Arial" panose="020B0604020202020204" pitchFamily="34" charset="0"/>
                <a:hlinkClick r:id="rId4"/>
              </a:rPr>
              <a:t>https://github.blog/2020-09-01-introducing-github-container-registry/</a:t>
            </a:r>
            <a:r>
              <a:rPr lang="en-US" sz="2400" kern="100" dirty="0">
                <a:latin typeface="Calibri" panose="020F0502020204030204" pitchFamily="34" charset="0"/>
                <a:ea typeface="Calibri" panose="020F0502020204030204" pitchFamily="34" charset="0"/>
                <a:cs typeface="Arial" panose="020B0604020202020204" pitchFamily="34" charset="0"/>
              </a:rPr>
              <a:t> </a:t>
            </a:r>
          </a:p>
          <a:p>
            <a:pPr marL="0" indent="0" algn="just">
              <a:buNone/>
            </a:pPr>
            <a:endParaRPr lang="en-GB" sz="2400" b="1" kern="100" dirty="0">
              <a:latin typeface="Calibri" panose="020F0502020204030204" pitchFamily="34" charset="0"/>
              <a:ea typeface="Calibri" panose="020F0502020204030204" pitchFamily="34" charset="0"/>
              <a:cs typeface="Arial" panose="020B0604020202020204" pitchFamily="34" charset="0"/>
            </a:endParaRPr>
          </a:p>
        </p:txBody>
      </p:sp>
      <p:sp>
        <p:nvSpPr>
          <p:cNvPr id="4" name="Footer Placeholder 3">
            <a:extLst>
              <a:ext uri="{FF2B5EF4-FFF2-40B4-BE49-F238E27FC236}">
                <a16:creationId xmlns:a16="http://schemas.microsoft.com/office/drawing/2014/main" id="{F2D373FA-1B21-5DFA-54B2-125B3BE6EF67}"/>
              </a:ext>
            </a:extLst>
          </p:cNvPr>
          <p:cNvSpPr>
            <a:spLocks noGrp="1"/>
          </p:cNvSpPr>
          <p:nvPr>
            <p:ph type="ftr" sz="quarter" idx="11"/>
          </p:nvPr>
        </p:nvSpPr>
        <p:spPr/>
        <p:txBody>
          <a:bodyPr/>
          <a:lstStyle/>
          <a:p>
            <a:r>
              <a:rPr lang="en-US" dirty="0">
                <a:solidFill>
                  <a:schemeClr val="tx1"/>
                </a:solidFill>
              </a:rPr>
              <a:t>Prepared by Dr. </a:t>
            </a:r>
            <a:r>
              <a:rPr lang="en-US">
                <a:solidFill>
                  <a:schemeClr val="tx1"/>
                </a:solidFill>
              </a:rPr>
              <a:t>Fawzi Albalooshi</a:t>
            </a:r>
            <a:endParaRPr lang="en-GB" dirty="0">
              <a:solidFill>
                <a:schemeClr val="tx1"/>
              </a:solidFill>
            </a:endParaRPr>
          </a:p>
        </p:txBody>
      </p:sp>
    </p:spTree>
    <p:extLst>
      <p:ext uri="{BB962C8B-B14F-4D97-AF65-F5344CB8AC3E}">
        <p14:creationId xmlns:p14="http://schemas.microsoft.com/office/powerpoint/2010/main" val="108713993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609</TotalTime>
  <Words>2811</Words>
  <Application>Microsoft Office PowerPoint</Application>
  <PresentationFormat>Widescreen</PresentationFormat>
  <Paragraphs>134</Paragraphs>
  <Slides>20</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20</vt:i4>
      </vt:variant>
    </vt:vector>
  </HeadingPairs>
  <TitlesOfParts>
    <vt:vector size="25" baseType="lpstr">
      <vt:lpstr>Aptos</vt:lpstr>
      <vt:lpstr>Arial</vt:lpstr>
      <vt:lpstr>Calibri</vt:lpstr>
      <vt:lpstr>Calibri Light</vt:lpstr>
      <vt:lpstr>Office Theme</vt:lpstr>
      <vt:lpstr>The DevOps Handbook HOW TO CREATE WORLD-CLASS AGILITY, RELIABLE, &amp; SECURITY IN TECHNOLOGY ORGANIZATIONS Gene Kim, Jez Humble, Patrick Debois, &amp; John Willis </vt:lpstr>
      <vt:lpstr>Introduction</vt:lpstr>
      <vt:lpstr>Enable On-demand Creation of Dev, Test, and Production Environments </vt:lpstr>
      <vt:lpstr>Enable On-demand Creation of Dev, Test, and Production Environments </vt:lpstr>
      <vt:lpstr>Enable On-demand Creation of Dev, Test, and Production Environments </vt:lpstr>
      <vt:lpstr>Enable On-demand Creation of Dev, Test, and Production Environments </vt:lpstr>
      <vt:lpstr>Enable On-demand Creation of Dev, Test, and Production Environments </vt:lpstr>
      <vt:lpstr>Enable On-demand Creation of Dev, Test, and Production Environments </vt:lpstr>
      <vt:lpstr>Enable On-demand Creation of Dev, Test, and Production Environments </vt:lpstr>
      <vt:lpstr>Enable On-demand Creation of Dev, Test, and Production Environments </vt:lpstr>
      <vt:lpstr>Enable On-demand Creation of Dev, Test, and Production Environments </vt:lpstr>
      <vt:lpstr>Create Our Single Repository of Truth for the Entire System</vt:lpstr>
      <vt:lpstr>Create Our Single Repository of Truth for the Entire System</vt:lpstr>
      <vt:lpstr>Create Our Single Repository of Truth for the Entire System</vt:lpstr>
      <vt:lpstr>Create Our Single Repository of Truth for the Entire System</vt:lpstr>
      <vt:lpstr>Make Infrastructure Easier to Rebuild Than to Repair</vt:lpstr>
      <vt:lpstr>Modify Our Definition of Development “Done” to include Running in Production-Like Environments</vt:lpstr>
      <vt:lpstr>Conclusion</vt:lpstr>
      <vt:lpstr>Tool Support - Environments </vt:lpstr>
      <vt:lpstr>Tool Support - Containers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DevOps Handbook HOW TO CREATE WORLD-CLASS AGILITY, RELIABLE, &amp; SECURITY IN TECHNOLOGY ORGANIZATIONS Gene Kim, Jez Humble, Patrick Debois, &amp; John Willis </dc:title>
  <dc:creator>Dr. FAWZI ABDULAZIZ MOHAMMED ALBALOOSHI</dc:creator>
  <cp:lastModifiedBy>Dr. FAWZI ABDULAZIZ MOHAMMED ALBALOOSHI</cp:lastModifiedBy>
  <cp:revision>10</cp:revision>
  <dcterms:created xsi:type="dcterms:W3CDTF">2023-08-01T10:00:34Z</dcterms:created>
  <dcterms:modified xsi:type="dcterms:W3CDTF">2025-03-28T13:37:25Z</dcterms:modified>
</cp:coreProperties>
</file>